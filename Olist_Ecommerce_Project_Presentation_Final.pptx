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7224B6-7D53-4E34-8F76-9B9540781582}" v="15" dt="2026-10-17T16:32:59.6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53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jan Chandra Poudel" userId="b59e3cd7603ca60f" providerId="LiveId" clId="{FDFBB8CD-80F7-4D75-9DE6-C5D223C4FE97}"/>
    <pc:docChg chg="undo custSel modSld">
      <pc:chgData name="Rojan Chandra Poudel" userId="b59e3cd7603ca60f" providerId="LiveId" clId="{FDFBB8CD-80F7-4D75-9DE6-C5D223C4FE97}" dt="2026-10-17T16:35:09.347" v="145" actId="1076"/>
      <pc:docMkLst>
        <pc:docMk/>
      </pc:docMkLst>
      <pc:sldChg chg="addSp modSp mod modTransition">
        <pc:chgData name="Rojan Chandra Poudel" userId="b59e3cd7603ca60f" providerId="LiveId" clId="{FDFBB8CD-80F7-4D75-9DE6-C5D223C4FE97}" dt="2026-10-17T16:32:15.686" v="109"/>
        <pc:sldMkLst>
          <pc:docMk/>
          <pc:sldMk cId="36319617" sldId="256"/>
        </pc:sldMkLst>
        <pc:spChg chg="mod">
          <ac:chgData name="Rojan Chandra Poudel" userId="b59e3cd7603ca60f" providerId="LiveId" clId="{FDFBB8CD-80F7-4D75-9DE6-C5D223C4FE97}" dt="2026-10-17T16:31:49.937" v="102" actId="1076"/>
          <ac:spMkLst>
            <pc:docMk/>
            <pc:sldMk cId="36319617" sldId="256"/>
            <ac:spMk id="2" creationId="{C322E545-55E7-4F8F-86EA-EBAA3C7F900D}"/>
          </ac:spMkLst>
        </pc:spChg>
        <pc:spChg chg="mod">
          <ac:chgData name="Rojan Chandra Poudel" userId="b59e3cd7603ca60f" providerId="LiveId" clId="{FDFBB8CD-80F7-4D75-9DE6-C5D223C4FE97}" dt="2026-10-17T16:31:44.696" v="101" actId="1076"/>
          <ac:spMkLst>
            <pc:docMk/>
            <pc:sldMk cId="36319617" sldId="256"/>
            <ac:spMk id="3" creationId="{1E031485-9A9B-4B3D-AE21-3D7D5030ED23}"/>
          </ac:spMkLst>
        </pc:spChg>
        <pc:spChg chg="mod">
          <ac:chgData name="Rojan Chandra Poudel" userId="b59e3cd7603ca60f" providerId="LiveId" clId="{FDFBB8CD-80F7-4D75-9DE6-C5D223C4FE97}" dt="2026-10-17T16:31:42.573" v="100" actId="1076"/>
          <ac:spMkLst>
            <pc:docMk/>
            <pc:sldMk cId="36319617" sldId="256"/>
            <ac:spMk id="4" creationId="{6C0E23DB-FB5B-41F0-A5E4-8BC6FCC41600}"/>
          </ac:spMkLst>
        </pc:spChg>
        <pc:spChg chg="mod">
          <ac:chgData name="Rojan Chandra Poudel" userId="b59e3cd7603ca60f" providerId="LiveId" clId="{FDFBB8CD-80F7-4D75-9DE6-C5D223C4FE97}" dt="2026-10-17T16:31:38.794" v="99" actId="1076"/>
          <ac:spMkLst>
            <pc:docMk/>
            <pc:sldMk cId="36319617" sldId="256"/>
            <ac:spMk id="5" creationId="{9148416A-80A6-4DDF-9587-7FE8775698E9}"/>
          </ac:spMkLst>
        </pc:spChg>
        <pc:spChg chg="mod">
          <ac:chgData name="Rojan Chandra Poudel" userId="b59e3cd7603ca60f" providerId="LiveId" clId="{FDFBB8CD-80F7-4D75-9DE6-C5D223C4FE97}" dt="2026-10-17T16:31:53.851" v="103" actId="1076"/>
          <ac:spMkLst>
            <pc:docMk/>
            <pc:sldMk cId="36319617" sldId="256"/>
            <ac:spMk id="6" creationId="{CC424810-0D79-47BE-8267-809873831F39}"/>
          </ac:spMkLst>
        </pc:spChg>
        <pc:spChg chg="add mod">
          <ac:chgData name="Rojan Chandra Poudel" userId="b59e3cd7603ca60f" providerId="LiveId" clId="{FDFBB8CD-80F7-4D75-9DE6-C5D223C4FE97}" dt="2026-10-17T16:30:41.612" v="93" actId="1076"/>
          <ac:spMkLst>
            <pc:docMk/>
            <pc:sldMk cId="36319617" sldId="256"/>
            <ac:spMk id="8" creationId="{9E825B9E-26F9-A9E7-159F-B30CDB1C426C}"/>
          </ac:spMkLst>
        </pc:spChg>
      </pc:sldChg>
      <pc:sldChg chg="modTransition">
        <pc:chgData name="Rojan Chandra Poudel" userId="b59e3cd7603ca60f" providerId="LiveId" clId="{FDFBB8CD-80F7-4D75-9DE6-C5D223C4FE97}" dt="2026-10-17T16:32:06.890" v="107"/>
        <pc:sldMkLst>
          <pc:docMk/>
          <pc:sldMk cId="351589323" sldId="257"/>
        </pc:sldMkLst>
      </pc:sldChg>
      <pc:sldChg chg="modTransition">
        <pc:chgData name="Rojan Chandra Poudel" userId="b59e3cd7603ca60f" providerId="LiveId" clId="{FDFBB8CD-80F7-4D75-9DE6-C5D223C4FE97}" dt="2026-10-17T16:32:11.945" v="108"/>
        <pc:sldMkLst>
          <pc:docMk/>
          <pc:sldMk cId="2074244058" sldId="258"/>
        </pc:sldMkLst>
      </pc:sldChg>
      <pc:sldChg chg="modTransition">
        <pc:chgData name="Rojan Chandra Poudel" userId="b59e3cd7603ca60f" providerId="LiveId" clId="{FDFBB8CD-80F7-4D75-9DE6-C5D223C4FE97}" dt="2026-10-17T16:32:25.136" v="110"/>
        <pc:sldMkLst>
          <pc:docMk/>
          <pc:sldMk cId="84270292" sldId="259"/>
        </pc:sldMkLst>
      </pc:sldChg>
      <pc:sldChg chg="modTransition">
        <pc:chgData name="Rojan Chandra Poudel" userId="b59e3cd7603ca60f" providerId="LiveId" clId="{FDFBB8CD-80F7-4D75-9DE6-C5D223C4FE97}" dt="2026-10-17T16:32:29.058" v="111"/>
        <pc:sldMkLst>
          <pc:docMk/>
          <pc:sldMk cId="1114271097" sldId="260"/>
        </pc:sldMkLst>
      </pc:sldChg>
      <pc:sldChg chg="modSp mod modTransition">
        <pc:chgData name="Rojan Chandra Poudel" userId="b59e3cd7603ca60f" providerId="LiveId" clId="{FDFBB8CD-80F7-4D75-9DE6-C5D223C4FE97}" dt="2026-10-17T16:32:34.196" v="112"/>
        <pc:sldMkLst>
          <pc:docMk/>
          <pc:sldMk cId="1924410218" sldId="261"/>
        </pc:sldMkLst>
        <pc:spChg chg="mod">
          <ac:chgData name="Rojan Chandra Poudel" userId="b59e3cd7603ca60f" providerId="LiveId" clId="{FDFBB8CD-80F7-4D75-9DE6-C5D223C4FE97}" dt="2026-10-17T16:31:57.640" v="105" actId="27636"/>
          <ac:spMkLst>
            <pc:docMk/>
            <pc:sldMk cId="1924410218" sldId="261"/>
            <ac:spMk id="7" creationId="{23BB4524-7F23-46B4-84A3-C655A5F4923E}"/>
          </ac:spMkLst>
        </pc:spChg>
      </pc:sldChg>
      <pc:sldChg chg="modTransition">
        <pc:chgData name="Rojan Chandra Poudel" userId="b59e3cd7603ca60f" providerId="LiveId" clId="{FDFBB8CD-80F7-4D75-9DE6-C5D223C4FE97}" dt="2026-10-17T16:32:38.245" v="113"/>
        <pc:sldMkLst>
          <pc:docMk/>
          <pc:sldMk cId="556689187" sldId="262"/>
        </pc:sldMkLst>
      </pc:sldChg>
      <pc:sldChg chg="modTransition">
        <pc:chgData name="Rojan Chandra Poudel" userId="b59e3cd7603ca60f" providerId="LiveId" clId="{FDFBB8CD-80F7-4D75-9DE6-C5D223C4FE97}" dt="2026-10-17T16:32:41.817" v="114"/>
        <pc:sldMkLst>
          <pc:docMk/>
          <pc:sldMk cId="1395853824" sldId="263"/>
        </pc:sldMkLst>
      </pc:sldChg>
      <pc:sldChg chg="modSp mod modTransition">
        <pc:chgData name="Rojan Chandra Poudel" userId="b59e3cd7603ca60f" providerId="LiveId" clId="{FDFBB8CD-80F7-4D75-9DE6-C5D223C4FE97}" dt="2026-10-17T16:35:09.347" v="145" actId="1076"/>
        <pc:sldMkLst>
          <pc:docMk/>
          <pc:sldMk cId="871697795" sldId="264"/>
        </pc:sldMkLst>
        <pc:spChg chg="mod">
          <ac:chgData name="Rojan Chandra Poudel" userId="b59e3cd7603ca60f" providerId="LiveId" clId="{FDFBB8CD-80F7-4D75-9DE6-C5D223C4FE97}" dt="2026-10-17T16:35:01.507" v="144" actId="1076"/>
          <ac:spMkLst>
            <pc:docMk/>
            <pc:sldMk cId="871697795" sldId="264"/>
            <ac:spMk id="4" creationId="{ABD814B4-44F7-4160-A78D-CC2197F77A3E}"/>
          </ac:spMkLst>
        </pc:spChg>
        <pc:graphicFrameChg chg="mod">
          <ac:chgData name="Rojan Chandra Poudel" userId="b59e3cd7603ca60f" providerId="LiveId" clId="{FDFBB8CD-80F7-4D75-9DE6-C5D223C4FE97}" dt="2026-10-17T16:34:58.846" v="143" actId="1076"/>
          <ac:graphicFrameMkLst>
            <pc:docMk/>
            <pc:sldMk cId="871697795" sldId="264"/>
            <ac:graphicFrameMk id="6" creationId="{9264BA10-B934-4361-AFBD-635D0CD1D816}"/>
          </ac:graphicFrameMkLst>
        </pc:graphicFrameChg>
        <pc:graphicFrameChg chg="mod">
          <ac:chgData name="Rojan Chandra Poudel" userId="b59e3cd7603ca60f" providerId="LiveId" clId="{FDFBB8CD-80F7-4D75-9DE6-C5D223C4FE97}" dt="2026-10-17T16:35:09.347" v="145" actId="1076"/>
          <ac:graphicFrameMkLst>
            <pc:docMk/>
            <pc:sldMk cId="871697795" sldId="264"/>
            <ac:graphicFrameMk id="7" creationId="{BF5F358E-91BC-4491-91DE-C9E3C0E1C1AA}"/>
          </ac:graphicFrameMkLst>
        </pc:graphicFrameChg>
      </pc:sldChg>
      <pc:sldChg chg="modSp mod modTransition">
        <pc:chgData name="Rojan Chandra Poudel" userId="b59e3cd7603ca60f" providerId="LiveId" clId="{FDFBB8CD-80F7-4D75-9DE6-C5D223C4FE97}" dt="2026-10-17T16:34:44.999" v="142" actId="1076"/>
        <pc:sldMkLst>
          <pc:docMk/>
          <pc:sldMk cId="2037275442" sldId="265"/>
        </pc:sldMkLst>
        <pc:spChg chg="mod">
          <ac:chgData name="Rojan Chandra Poudel" userId="b59e3cd7603ca60f" providerId="LiveId" clId="{FDFBB8CD-80F7-4D75-9DE6-C5D223C4FE97}" dt="2026-10-17T16:34:33.211" v="138" actId="1076"/>
          <ac:spMkLst>
            <pc:docMk/>
            <pc:sldMk cId="2037275442" sldId="265"/>
            <ac:spMk id="2" creationId="{B81F933A-80C7-4BB8-81A7-B43CAD32852F}"/>
          </ac:spMkLst>
        </pc:spChg>
        <pc:spChg chg="mod">
          <ac:chgData name="Rojan Chandra Poudel" userId="b59e3cd7603ca60f" providerId="LiveId" clId="{FDFBB8CD-80F7-4D75-9DE6-C5D223C4FE97}" dt="2026-10-17T16:34:35.835" v="139" actId="1076"/>
          <ac:spMkLst>
            <pc:docMk/>
            <pc:sldMk cId="2037275442" sldId="265"/>
            <ac:spMk id="4" creationId="{AFD5188C-A0F4-4812-BE94-00C86F017DC2}"/>
          </ac:spMkLst>
        </pc:spChg>
        <pc:spChg chg="mod">
          <ac:chgData name="Rojan Chandra Poudel" userId="b59e3cd7603ca60f" providerId="LiveId" clId="{FDFBB8CD-80F7-4D75-9DE6-C5D223C4FE97}" dt="2026-10-17T16:34:39.741" v="140" actId="1076"/>
          <ac:spMkLst>
            <pc:docMk/>
            <pc:sldMk cId="2037275442" sldId="265"/>
            <ac:spMk id="5" creationId="{8FC632B0-E130-4294-A1DC-EAFF151BBEFE}"/>
          </ac:spMkLst>
        </pc:spChg>
        <pc:spChg chg="mod">
          <ac:chgData name="Rojan Chandra Poudel" userId="b59e3cd7603ca60f" providerId="LiveId" clId="{FDFBB8CD-80F7-4D75-9DE6-C5D223C4FE97}" dt="2026-10-17T16:34:42.219" v="141" actId="1076"/>
          <ac:spMkLst>
            <pc:docMk/>
            <pc:sldMk cId="2037275442" sldId="265"/>
            <ac:spMk id="6" creationId="{EB5D3076-BEC9-4C90-BD77-8CFC9E77B6BB}"/>
          </ac:spMkLst>
        </pc:spChg>
        <pc:spChg chg="mod">
          <ac:chgData name="Rojan Chandra Poudel" userId="b59e3cd7603ca60f" providerId="LiveId" clId="{FDFBB8CD-80F7-4D75-9DE6-C5D223C4FE97}" dt="2026-10-17T16:34:44.999" v="142" actId="1076"/>
          <ac:spMkLst>
            <pc:docMk/>
            <pc:sldMk cId="2037275442" sldId="265"/>
            <ac:spMk id="7" creationId="{BD398218-17EA-4F5C-8AED-9DC44660A533}"/>
          </ac:spMkLst>
        </pc:spChg>
        <pc:spChg chg="mod">
          <ac:chgData name="Rojan Chandra Poudel" userId="b59e3cd7603ca60f" providerId="LiveId" clId="{FDFBB8CD-80F7-4D75-9DE6-C5D223C4FE97}" dt="2026-10-17T16:34:29.588" v="137" actId="1076"/>
          <ac:spMkLst>
            <pc:docMk/>
            <pc:sldMk cId="2037275442" sldId="265"/>
            <ac:spMk id="8" creationId="{3EEBF92E-1765-433D-9F18-7484B07BE241}"/>
          </ac:spMkLst>
        </pc:spChg>
      </pc:sldChg>
      <pc:sldChg chg="modSp mod modTransition">
        <pc:chgData name="Rojan Chandra Poudel" userId="b59e3cd7603ca60f" providerId="LiveId" clId="{FDFBB8CD-80F7-4D75-9DE6-C5D223C4FE97}" dt="2026-10-17T16:34:08.502" v="133" actId="2710"/>
        <pc:sldMkLst>
          <pc:docMk/>
          <pc:sldMk cId="1455863096" sldId="266"/>
        </pc:sldMkLst>
        <pc:spChg chg="mod">
          <ac:chgData name="Rojan Chandra Poudel" userId="b59e3cd7603ca60f" providerId="LiveId" clId="{FDFBB8CD-80F7-4D75-9DE6-C5D223C4FE97}" dt="2026-10-17T16:34:00.473" v="132" actId="2710"/>
          <ac:spMkLst>
            <pc:docMk/>
            <pc:sldMk cId="1455863096" sldId="266"/>
            <ac:spMk id="4" creationId="{331E515C-CC99-46C2-9DCD-A07D5393AE57}"/>
          </ac:spMkLst>
        </pc:spChg>
        <pc:spChg chg="mod">
          <ac:chgData name="Rojan Chandra Poudel" userId="b59e3cd7603ca60f" providerId="LiveId" clId="{FDFBB8CD-80F7-4D75-9DE6-C5D223C4FE97}" dt="2026-10-17T16:34:08.502" v="133" actId="2710"/>
          <ac:spMkLst>
            <pc:docMk/>
            <pc:sldMk cId="1455863096" sldId="266"/>
            <ac:spMk id="5" creationId="{C10A3461-788E-4071-873A-4A6231A6E58C}"/>
          </ac:spMkLst>
        </pc:spChg>
      </pc:sldChg>
      <pc:sldChg chg="modSp mod modTransition">
        <pc:chgData name="Rojan Chandra Poudel" userId="b59e3cd7603ca60f" providerId="LiveId" clId="{FDFBB8CD-80F7-4D75-9DE6-C5D223C4FE97}" dt="2026-10-17T16:33:28.019" v="125" actId="123"/>
        <pc:sldMkLst>
          <pc:docMk/>
          <pc:sldMk cId="1594169312" sldId="267"/>
        </pc:sldMkLst>
        <pc:spChg chg="mod">
          <ac:chgData name="Rojan Chandra Poudel" userId="b59e3cd7603ca60f" providerId="LiveId" clId="{FDFBB8CD-80F7-4D75-9DE6-C5D223C4FE97}" dt="2026-10-17T16:33:28.019" v="125" actId="123"/>
          <ac:spMkLst>
            <pc:docMk/>
            <pc:sldMk cId="1594169312" sldId="267"/>
            <ac:spMk id="4" creationId="{C31CD2A4-9EB9-4B88-9500-C7DF9BF0F624}"/>
          </ac:spMkLst>
        </pc:spChg>
        <pc:spChg chg="mod">
          <ac:chgData name="Rojan Chandra Poudel" userId="b59e3cd7603ca60f" providerId="LiveId" clId="{FDFBB8CD-80F7-4D75-9DE6-C5D223C4FE97}" dt="2026-10-17T16:33:25.673" v="124" actId="123"/>
          <ac:spMkLst>
            <pc:docMk/>
            <pc:sldMk cId="1594169312" sldId="267"/>
            <ac:spMk id="5" creationId="{62570262-1A6C-429C-A0CD-AC785DF09163}"/>
          </ac:spMkLst>
        </pc:spChg>
        <pc:spChg chg="mod">
          <ac:chgData name="Rojan Chandra Poudel" userId="b59e3cd7603ca60f" providerId="LiveId" clId="{FDFBB8CD-80F7-4D75-9DE6-C5D223C4FE97}" dt="2026-10-17T16:33:23.168" v="123" actId="123"/>
          <ac:spMkLst>
            <pc:docMk/>
            <pc:sldMk cId="1594169312" sldId="267"/>
            <ac:spMk id="6" creationId="{65867069-3B84-4184-ABFF-FC6736F35D91}"/>
          </ac:spMkLst>
        </pc:spChg>
      </pc:sldChg>
      <pc:sldChg chg="modTransition">
        <pc:chgData name="Rojan Chandra Poudel" userId="b59e3cd7603ca60f" providerId="LiveId" clId="{FDFBB8CD-80F7-4D75-9DE6-C5D223C4FE97}" dt="2026-10-17T16:32:59.698" v="119"/>
        <pc:sldMkLst>
          <pc:docMk/>
          <pc:sldMk cId="1715292127" sldId="268"/>
        </pc:sldMkLst>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500" b="1">
                <a:solidFill>
                  <a:srgbClr val="12304A"/>
                </a:solidFill>
                <a:latin typeface="Arial"/>
                <a:ea typeface="Arial"/>
                <a:cs typeface="Arial"/>
              </a:rPr>
              <a:t>Orders by purchase month</a:t>
            </a:r>
          </a:p>
        </c:rich>
      </c:tx>
      <c:overlay val="0"/>
    </c:title>
    <c:autoTitleDeleted val="0"/>
    <c:plotArea>
      <c:layout/>
      <c:lineChart>
        <c:grouping val="standard"/>
        <c:varyColors val="0"/>
        <c:ser>
          <c:idx val="0"/>
          <c:order val="0"/>
          <c:tx>
            <c:v>Orders</c:v>
          </c:tx>
          <c:spPr>
            <a:ln w="19050">
              <a:solidFill>
                <a:srgbClr val="147D82"/>
              </a:solidFill>
              <a:prstDash val="solid"/>
            </a:ln>
          </c:spPr>
          <c:marker>
            <c:symbol val="circle"/>
            <c:size val="6"/>
            <c:spPr>
              <a:solidFill>
                <a:srgbClr val="147D82"/>
              </a:solidFill>
            </c:spPr>
          </c:marker>
          <c:cat>
            <c:strLit>
              <c:ptCount val="12"/>
              <c:pt idx="0">
                <c:v>Jan</c:v>
              </c:pt>
              <c:pt idx="1">
                <c:v>Feb</c:v>
              </c:pt>
              <c:pt idx="2">
                <c:v>Mar</c:v>
              </c:pt>
              <c:pt idx="3">
                <c:v>Apr</c:v>
              </c:pt>
              <c:pt idx="4">
                <c:v>May</c:v>
              </c:pt>
              <c:pt idx="5">
                <c:v>Jun</c:v>
              </c:pt>
              <c:pt idx="6">
                <c:v>Jul</c:v>
              </c:pt>
              <c:pt idx="7">
                <c:v>Aug</c:v>
              </c:pt>
              <c:pt idx="8">
                <c:v>Sep</c:v>
              </c:pt>
              <c:pt idx="9">
                <c:v>Oct</c:v>
              </c:pt>
              <c:pt idx="10">
                <c:v>Nov</c:v>
              </c:pt>
              <c:pt idx="11">
                <c:v>Dec</c:v>
              </c:pt>
            </c:strLit>
          </c:cat>
          <c:val>
            <c:numLit>
              <c:formatCode>General</c:formatCode>
              <c:ptCount val="12"/>
              <c:pt idx="0">
                <c:v>800</c:v>
              </c:pt>
              <c:pt idx="1">
                <c:v>1780</c:v>
              </c:pt>
              <c:pt idx="2">
                <c:v>2682</c:v>
              </c:pt>
              <c:pt idx="3">
                <c:v>2404</c:v>
              </c:pt>
              <c:pt idx="4">
                <c:v>3700</c:v>
              </c:pt>
              <c:pt idx="5">
                <c:v>3245</c:v>
              </c:pt>
              <c:pt idx="6">
                <c:v>4026</c:v>
              </c:pt>
              <c:pt idx="7">
                <c:v>4331</c:v>
              </c:pt>
              <c:pt idx="8">
                <c:v>4285</c:v>
              </c:pt>
              <c:pt idx="9">
                <c:v>4631</c:v>
              </c:pt>
              <c:pt idx="10">
                <c:v>7544</c:v>
              </c:pt>
              <c:pt idx="11">
                <c:v>5673</c:v>
              </c:pt>
            </c:numLit>
          </c:val>
          <c:smooth val="0"/>
          <c:extLst>
            <c:ext xmlns:c16="http://schemas.microsoft.com/office/drawing/2014/chart" uri="{C3380CC4-5D6E-409C-BE32-E72D297353CC}">
              <c16:uniqueId val="{00000000-425C-4601-A26D-7CB9420DA6E9}"/>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8E3E8"/>
            </a:solidFill>
            <a:prstDash val="solid"/>
          </a:ln>
        </c:spPr>
        <c:txPr>
          <a:bodyPr anchorCtr="1"/>
          <a:lstStyle/>
          <a:p>
            <a:pPr>
              <a:defRPr sz="1125">
                <a:solidFill>
                  <a:srgbClr val="586B78"/>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D8E3E8"/>
              </a:solidFill>
              <a:prstDash val="solid"/>
            </a:ln>
          </c:spPr>
        </c:majorGridlines>
        <c:numFmt formatCode="General" sourceLinked="1"/>
        <c:majorTickMark val="none"/>
        <c:minorTickMark val="none"/>
        <c:tickLblPos val="nextTo"/>
        <c:spPr>
          <a:ln w="9525">
            <a:solidFill>
              <a:srgbClr val="D8E3E8"/>
            </a:solidFill>
            <a:prstDash val="solid"/>
          </a:ln>
        </c:spPr>
        <c:txPr>
          <a:bodyPr anchorCtr="1"/>
          <a:lstStyle/>
          <a:p>
            <a:pPr>
              <a:defRPr sz="1125">
                <a:solidFill>
                  <a:srgbClr val="586B78"/>
                </a:solidFill>
                <a:latin typeface="Arial"/>
                <a:ea typeface="Arial"/>
                <a:cs typeface="Arial"/>
              </a:defRPr>
            </a:pPr>
            <a:endParaRPr lang="en-US"/>
          </a:p>
        </c:txPr>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500" b="1">
                <a:solidFill>
                  <a:srgbClr val="12304A"/>
                </a:solidFill>
                <a:latin typeface="Arial"/>
                <a:ea typeface="Arial"/>
                <a:cs typeface="Arial"/>
              </a:rPr>
              <a:t>Delivered item price by purchase month</a:t>
            </a:r>
          </a:p>
        </c:rich>
      </c:tx>
      <c:overlay val="0"/>
    </c:title>
    <c:autoTitleDeleted val="0"/>
    <c:plotArea>
      <c:layout/>
      <c:lineChart>
        <c:grouping val="standard"/>
        <c:varyColors val="0"/>
        <c:ser>
          <c:idx val="0"/>
          <c:order val="0"/>
          <c:tx>
            <c:v>Item price</c:v>
          </c:tx>
          <c:spPr>
            <a:ln w="19050">
              <a:solidFill>
                <a:srgbClr val="147D82"/>
              </a:solidFill>
              <a:prstDash val="solid"/>
            </a:ln>
          </c:spPr>
          <c:marker>
            <c:symbol val="circle"/>
            <c:size val="6"/>
            <c:spPr>
              <a:solidFill>
                <a:srgbClr val="147D82"/>
              </a:solidFill>
            </c:spPr>
          </c:marker>
          <c:cat>
            <c:strLit>
              <c:ptCount val="12"/>
              <c:pt idx="0">
                <c:v>Jan</c:v>
              </c:pt>
              <c:pt idx="1">
                <c:v>Feb</c:v>
              </c:pt>
              <c:pt idx="2">
                <c:v>Mar</c:v>
              </c:pt>
              <c:pt idx="3">
                <c:v>Apr</c:v>
              </c:pt>
              <c:pt idx="4">
                <c:v>May</c:v>
              </c:pt>
              <c:pt idx="5">
                <c:v>Jun</c:v>
              </c:pt>
              <c:pt idx="6">
                <c:v>Jul</c:v>
              </c:pt>
              <c:pt idx="7">
                <c:v>Aug</c:v>
              </c:pt>
              <c:pt idx="8">
                <c:v>Sep</c:v>
              </c:pt>
              <c:pt idx="9">
                <c:v>Oct</c:v>
              </c:pt>
              <c:pt idx="10">
                <c:v>Nov</c:v>
              </c:pt>
              <c:pt idx="11">
                <c:v>Dec</c:v>
              </c:pt>
            </c:strLit>
          </c:cat>
          <c:val>
            <c:numLit>
              <c:formatCode>General</c:formatCode>
              <c:ptCount val="12"/>
              <c:pt idx="0">
                <c:v>111798.36</c:v>
              </c:pt>
              <c:pt idx="1">
                <c:v>234223.4</c:v>
              </c:pt>
              <c:pt idx="2">
                <c:v>359198.85</c:v>
              </c:pt>
              <c:pt idx="3">
                <c:v>340669.68</c:v>
              </c:pt>
              <c:pt idx="4">
                <c:v>489338.25</c:v>
              </c:pt>
              <c:pt idx="5">
                <c:v>421923.37</c:v>
              </c:pt>
              <c:pt idx="6">
                <c:v>481604.52</c:v>
              </c:pt>
              <c:pt idx="7">
                <c:v>554699.69999999995</c:v>
              </c:pt>
              <c:pt idx="8">
                <c:v>607399.67000000004</c:v>
              </c:pt>
              <c:pt idx="9">
                <c:v>648247.65</c:v>
              </c:pt>
              <c:pt idx="10">
                <c:v>987765.37</c:v>
              </c:pt>
              <c:pt idx="11">
                <c:v>726033.19</c:v>
              </c:pt>
            </c:numLit>
          </c:val>
          <c:smooth val="0"/>
          <c:extLst>
            <c:ext xmlns:c16="http://schemas.microsoft.com/office/drawing/2014/chart" uri="{C3380CC4-5D6E-409C-BE32-E72D297353CC}">
              <c16:uniqueId val="{00000000-4FC0-45A2-AD95-AD62AF2EB3AC}"/>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8E3E8"/>
            </a:solidFill>
            <a:prstDash val="solid"/>
          </a:ln>
        </c:spPr>
        <c:txPr>
          <a:bodyPr anchorCtr="1"/>
          <a:lstStyle/>
          <a:p>
            <a:pPr>
              <a:defRPr sz="1125">
                <a:solidFill>
                  <a:srgbClr val="586B78"/>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D8E3E8"/>
              </a:solidFill>
              <a:prstDash val="solid"/>
            </a:ln>
          </c:spPr>
        </c:majorGridlines>
        <c:numFmt formatCode="General" sourceLinked="1"/>
        <c:majorTickMark val="none"/>
        <c:minorTickMark val="none"/>
        <c:tickLblPos val="nextTo"/>
        <c:spPr>
          <a:ln w="9525">
            <a:solidFill>
              <a:srgbClr val="D8E3E8"/>
            </a:solidFill>
            <a:prstDash val="solid"/>
          </a:ln>
        </c:spPr>
        <c:txPr>
          <a:bodyPr anchorCtr="1"/>
          <a:lstStyle/>
          <a:p>
            <a:pPr>
              <a:defRPr sz="1125">
                <a:solidFill>
                  <a:srgbClr val="586B78"/>
                </a:solidFill>
                <a:latin typeface="Arial"/>
                <a:ea typeface="Arial"/>
                <a:cs typeface="Arial"/>
              </a:defRPr>
            </a:pPr>
            <a:endParaRPr lang="en-US"/>
          </a:p>
        </c:txPr>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500" b="1">
                <a:solidFill>
                  <a:srgbClr val="12304A"/>
                </a:solidFill>
                <a:latin typeface="Arial"/>
                <a:ea typeface="Arial"/>
                <a:cs typeface="Arial"/>
              </a:rPr>
              <a:t>Top five categories by delivered item price (millions)</a:t>
            </a:r>
          </a:p>
        </c:rich>
      </c:tx>
      <c:overlay val="0"/>
    </c:title>
    <c:autoTitleDeleted val="0"/>
    <c:plotArea>
      <c:layout/>
      <c:barChart>
        <c:barDir val="bar"/>
        <c:grouping val="clustered"/>
        <c:varyColors val="0"/>
        <c:ser>
          <c:idx val="0"/>
          <c:order val="0"/>
          <c:tx>
            <c:v>Delivered item price, millions of value units</c:v>
          </c:tx>
          <c:spPr>
            <a:solidFill>
              <a:srgbClr val="147D82"/>
            </a:solidFill>
            <a:ln w="19050">
              <a:solidFill>
                <a:srgbClr val="147D82"/>
              </a:solidFill>
              <a:prstDash val="solid"/>
            </a:ln>
          </c:spPr>
          <c:invertIfNegative val="0"/>
          <c:dLbls>
            <c:numFmt formatCode="0.000" sourceLinked="0"/>
            <c:spPr>
              <a:noFill/>
              <a:ln>
                <a:noFill/>
              </a:ln>
              <a:effectLst/>
            </c:spPr>
            <c:txPr>
              <a:bodyPr anchorCtr="1"/>
              <a:lstStyle/>
              <a:p>
                <a:pPr>
                  <a:defRPr sz="1050">
                    <a:solidFill>
                      <a:srgbClr val="22313D"/>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Health &amp; beauty</c:v>
              </c:pt>
              <c:pt idx="1">
                <c:v>Watches &amp; gifts</c:v>
              </c:pt>
              <c:pt idx="2">
                <c:v>Bed, bath &amp; table</c:v>
              </c:pt>
              <c:pt idx="3">
                <c:v>Sports &amp; leisure</c:v>
              </c:pt>
              <c:pt idx="4">
                <c:v>Computers &amp; accessories</c:v>
              </c:pt>
            </c:strLit>
          </c:cat>
          <c:val>
            <c:numLit>
              <c:formatCode>General</c:formatCode>
              <c:ptCount val="5"/>
              <c:pt idx="0">
                <c:v>1.23313172</c:v>
              </c:pt>
              <c:pt idx="1">
                <c:v>1.1661769799999999</c:v>
              </c:pt>
              <c:pt idx="2">
                <c:v>1.02343476</c:v>
              </c:pt>
              <c:pt idx="3">
                <c:v>0.95485255000000002</c:v>
              </c:pt>
              <c:pt idx="4">
                <c:v>0.88872461000000003</c:v>
              </c:pt>
            </c:numLit>
          </c:val>
          <c:extLst>
            <c:ext xmlns:c16="http://schemas.microsoft.com/office/drawing/2014/chart" uri="{C3380CC4-5D6E-409C-BE32-E72D297353CC}">
              <c16:uniqueId val="{00000000-9CFF-4ECA-8001-C563113CD037}"/>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8E3E8"/>
            </a:solidFill>
            <a:prstDash val="solid"/>
          </a:ln>
        </c:spPr>
        <c:txPr>
          <a:bodyPr anchorCtr="1"/>
          <a:lstStyle/>
          <a:p>
            <a:pPr>
              <a:defRPr sz="1125">
                <a:solidFill>
                  <a:srgbClr val="586B78"/>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majorGridlines>
          <c:spPr>
            <a:ln w="9525">
              <a:solidFill>
                <a:srgbClr val="D8E3E8"/>
              </a:solidFill>
              <a:prstDash val="solid"/>
            </a:ln>
          </c:spPr>
        </c:majorGridlines>
        <c:numFmt formatCode="General" sourceLinked="1"/>
        <c:majorTickMark val="none"/>
        <c:minorTickMark val="none"/>
        <c:tickLblPos val="nextTo"/>
        <c:spPr>
          <a:ln w="9525">
            <a:solidFill>
              <a:srgbClr val="D8E3E8"/>
            </a:solidFill>
            <a:prstDash val="solid"/>
          </a:ln>
        </c:spPr>
        <c:txPr>
          <a:bodyPr anchorCtr="1"/>
          <a:lstStyle/>
          <a:p>
            <a:pPr>
              <a:defRPr sz="1125">
                <a:solidFill>
                  <a:srgbClr val="586B78"/>
                </a:solidFill>
                <a:latin typeface="Arial"/>
                <a:ea typeface="Arial"/>
                <a:cs typeface="Arial"/>
              </a:defRPr>
            </a:pPr>
            <a:endParaRPr lang="en-US"/>
          </a:p>
        </c:txPr>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500" b="1">
                <a:solidFill>
                  <a:srgbClr val="12304A"/>
                </a:solidFill>
                <a:latin typeface="Arial"/>
                <a:ea typeface="Arial"/>
                <a:cs typeface="Arial"/>
              </a:rPr>
              <a:t>Recorded value by payment type (millions)</a:t>
            </a:r>
          </a:p>
        </c:rich>
      </c:tx>
      <c:overlay val="0"/>
    </c:title>
    <c:autoTitleDeleted val="0"/>
    <c:plotArea>
      <c:layout/>
      <c:barChart>
        <c:barDir val="bar"/>
        <c:grouping val="clustered"/>
        <c:varyColors val="0"/>
        <c:ser>
          <c:idx val="0"/>
          <c:order val="0"/>
          <c:tx>
            <c:v>Millions of recorded value units</c:v>
          </c:tx>
          <c:spPr>
            <a:solidFill>
              <a:srgbClr val="147D82"/>
            </a:solidFill>
            <a:ln w="19050">
              <a:solidFill>
                <a:srgbClr val="147D82"/>
              </a:solidFill>
              <a:prstDash val="solid"/>
            </a:ln>
          </c:spPr>
          <c:invertIfNegative val="0"/>
          <c:dLbls>
            <c:numFmt formatCode="0.00" sourceLinked="0"/>
            <c:spPr>
              <a:noFill/>
              <a:ln>
                <a:noFill/>
              </a:ln>
              <a:effectLst/>
            </c:spPr>
            <c:txPr>
              <a:bodyPr anchorCtr="1"/>
              <a:lstStyle/>
              <a:p>
                <a:pPr>
                  <a:defRPr sz="1125">
                    <a:solidFill>
                      <a:srgbClr val="22313D"/>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Credit card</c:v>
              </c:pt>
              <c:pt idx="1">
                <c:v>Boleto</c:v>
              </c:pt>
              <c:pt idx="2">
                <c:v>Voucher</c:v>
              </c:pt>
              <c:pt idx="3">
                <c:v>Debit card</c:v>
              </c:pt>
            </c:strLit>
          </c:cat>
          <c:val>
            <c:numLit>
              <c:formatCode>General</c:formatCode>
              <c:ptCount val="4"/>
              <c:pt idx="0">
                <c:v>12.542084190000001</c:v>
              </c:pt>
              <c:pt idx="1">
                <c:v>2.8693612700000002</c:v>
              </c:pt>
              <c:pt idx="2">
                <c:v>0.37943686999999998</c:v>
              </c:pt>
              <c:pt idx="3">
                <c:v>0.21798978999999999</c:v>
              </c:pt>
            </c:numLit>
          </c:val>
          <c:extLst>
            <c:ext xmlns:c16="http://schemas.microsoft.com/office/drawing/2014/chart" uri="{C3380CC4-5D6E-409C-BE32-E72D297353CC}">
              <c16:uniqueId val="{00000000-B1D1-4DD3-9C75-72DBB2A1A032}"/>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8E3E8"/>
            </a:solidFill>
            <a:prstDash val="solid"/>
          </a:ln>
        </c:spPr>
        <c:txPr>
          <a:bodyPr anchorCtr="1"/>
          <a:lstStyle/>
          <a:p>
            <a:pPr>
              <a:defRPr sz="1125">
                <a:solidFill>
                  <a:srgbClr val="586B78"/>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majorGridlines>
          <c:spPr>
            <a:ln w="9525">
              <a:solidFill>
                <a:srgbClr val="D8E3E8"/>
              </a:solidFill>
              <a:prstDash val="solid"/>
            </a:ln>
          </c:spPr>
        </c:majorGridlines>
        <c:numFmt formatCode="General" sourceLinked="1"/>
        <c:majorTickMark val="none"/>
        <c:minorTickMark val="none"/>
        <c:tickLblPos val="nextTo"/>
        <c:spPr>
          <a:ln w="9525">
            <a:solidFill>
              <a:srgbClr val="D8E3E8"/>
            </a:solidFill>
            <a:prstDash val="solid"/>
          </a:ln>
        </c:spPr>
        <c:txPr>
          <a:bodyPr anchorCtr="1"/>
          <a:lstStyle/>
          <a:p>
            <a:pPr>
              <a:defRPr sz="1125">
                <a:solidFill>
                  <a:srgbClr val="586B78"/>
                </a:solidFill>
                <a:latin typeface="Arial"/>
                <a:ea typeface="Arial"/>
                <a:cs typeface="Arial"/>
              </a:defRPr>
            </a:pPr>
            <a:endParaRPr lang="en-US"/>
          </a:p>
        </c:txPr>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500" b="1">
                <a:solidFill>
                  <a:srgbClr val="12304A"/>
                </a:solidFill>
                <a:latin typeface="Arial"/>
                <a:ea typeface="Arial"/>
                <a:cs typeface="Arial"/>
              </a:rPr>
              <a:t>Eligible delivered orders</a:t>
            </a:r>
          </a:p>
        </c:rich>
      </c:tx>
      <c:overlay val="0"/>
    </c:title>
    <c:autoTitleDeleted val="0"/>
    <c:plotArea>
      <c:layout/>
      <c:barChart>
        <c:barDir val="bar"/>
        <c:grouping val="clustered"/>
        <c:varyColors val="0"/>
        <c:ser>
          <c:idx val="0"/>
          <c:order val="0"/>
          <c:tx>
            <c:v>Order count</c:v>
          </c:tx>
          <c:spPr>
            <a:solidFill>
              <a:srgbClr val="147D82"/>
            </a:solidFill>
            <a:ln w="19050">
              <a:solidFill>
                <a:srgbClr val="147D82"/>
              </a:solidFill>
              <a:prstDash val="solid"/>
            </a:ln>
          </c:spPr>
          <c:invertIfNegative val="0"/>
          <c:dLbls>
            <c:numFmt formatCode="#,##0" sourceLinked="0"/>
            <c:spPr>
              <a:noFill/>
              <a:ln>
                <a:noFill/>
              </a:ln>
              <a:effectLst/>
            </c:spPr>
            <c:txPr>
              <a:bodyPr anchorCtr="1"/>
              <a:lstStyle/>
              <a:p>
                <a:pPr>
                  <a:defRPr sz="1050">
                    <a:solidFill>
                      <a:srgbClr val="22313D"/>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On time</c:v>
              </c:pt>
              <c:pt idx="1">
                <c:v>Late</c:v>
              </c:pt>
            </c:strLit>
          </c:cat>
          <c:val>
            <c:numLit>
              <c:formatCode>General</c:formatCode>
              <c:ptCount val="2"/>
              <c:pt idx="0">
                <c:v>88644</c:v>
              </c:pt>
              <c:pt idx="1">
                <c:v>7826</c:v>
              </c:pt>
            </c:numLit>
          </c:val>
          <c:extLst>
            <c:ext xmlns:c16="http://schemas.microsoft.com/office/drawing/2014/chart" uri="{C3380CC4-5D6E-409C-BE32-E72D297353CC}">
              <c16:uniqueId val="{00000000-5E8D-4F9E-9D6A-3EAACA35D845}"/>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8E3E8"/>
            </a:solidFill>
            <a:prstDash val="solid"/>
          </a:ln>
        </c:spPr>
        <c:txPr>
          <a:bodyPr anchorCtr="1"/>
          <a:lstStyle/>
          <a:p>
            <a:pPr>
              <a:defRPr sz="1125">
                <a:solidFill>
                  <a:srgbClr val="586B78"/>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majorGridlines>
          <c:spPr>
            <a:ln w="9525">
              <a:solidFill>
                <a:srgbClr val="D8E3E8"/>
              </a:solidFill>
              <a:prstDash val="solid"/>
            </a:ln>
          </c:spPr>
        </c:majorGridlines>
        <c:numFmt formatCode="General" sourceLinked="1"/>
        <c:majorTickMark val="none"/>
        <c:minorTickMark val="none"/>
        <c:tickLblPos val="nextTo"/>
        <c:spPr>
          <a:ln w="9525">
            <a:solidFill>
              <a:srgbClr val="D8E3E8"/>
            </a:solidFill>
            <a:prstDash val="solid"/>
          </a:ln>
        </c:spPr>
        <c:txPr>
          <a:bodyPr anchorCtr="1"/>
          <a:lstStyle/>
          <a:p>
            <a:pPr>
              <a:defRPr sz="1125">
                <a:solidFill>
                  <a:srgbClr val="586B78"/>
                </a:solidFill>
                <a:latin typeface="Arial"/>
                <a:ea typeface="Arial"/>
                <a:cs typeface="Arial"/>
              </a:defRPr>
            </a:pPr>
            <a:endParaRPr lang="en-US"/>
          </a:p>
        </c:txPr>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500" b="1">
                <a:solidFill>
                  <a:srgbClr val="12304A"/>
                </a:solidFill>
                <a:latin typeface="Arial"/>
                <a:ea typeface="Arial"/>
                <a:cs typeface="Arial"/>
              </a:rPr>
              <a:t>Review records by score</a:t>
            </a:r>
          </a:p>
        </c:rich>
      </c:tx>
      <c:overlay val="0"/>
    </c:title>
    <c:autoTitleDeleted val="0"/>
    <c:plotArea>
      <c:layout/>
      <c:barChart>
        <c:barDir val="bar"/>
        <c:grouping val="clustered"/>
        <c:varyColors val="0"/>
        <c:ser>
          <c:idx val="0"/>
          <c:order val="0"/>
          <c:tx>
            <c:v>Review records</c:v>
          </c:tx>
          <c:spPr>
            <a:solidFill>
              <a:srgbClr val="147D82"/>
            </a:solidFill>
            <a:ln w="19050">
              <a:solidFill>
                <a:srgbClr val="147D82"/>
              </a:solidFill>
              <a:prstDash val="solid"/>
            </a:ln>
          </c:spPr>
          <c:invertIfNegative val="0"/>
          <c:dLbls>
            <c:numFmt formatCode="#,##0" sourceLinked="0"/>
            <c:spPr>
              <a:noFill/>
              <a:ln>
                <a:noFill/>
              </a:ln>
              <a:effectLst/>
            </c:spPr>
            <c:txPr>
              <a:bodyPr anchorCtr="1"/>
              <a:lstStyle/>
              <a:p>
                <a:pPr>
                  <a:defRPr sz="1050">
                    <a:solidFill>
                      <a:srgbClr val="22313D"/>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Lit>
              <c:formatCode>General</c:formatCode>
              <c:ptCount val="5"/>
              <c:pt idx="0">
                <c:v>1</c:v>
              </c:pt>
              <c:pt idx="1">
                <c:v>2</c:v>
              </c:pt>
              <c:pt idx="2">
                <c:v>3</c:v>
              </c:pt>
              <c:pt idx="3">
                <c:v>4</c:v>
              </c:pt>
              <c:pt idx="4">
                <c:v>5</c:v>
              </c:pt>
            </c:numLit>
          </c:cat>
          <c:val>
            <c:numLit>
              <c:formatCode>General</c:formatCode>
              <c:ptCount val="5"/>
              <c:pt idx="0">
                <c:v>11424</c:v>
              </c:pt>
              <c:pt idx="1">
                <c:v>3151</c:v>
              </c:pt>
              <c:pt idx="2">
                <c:v>8179</c:v>
              </c:pt>
              <c:pt idx="3">
                <c:v>19142</c:v>
              </c:pt>
              <c:pt idx="4">
                <c:v>57328</c:v>
              </c:pt>
            </c:numLit>
          </c:val>
          <c:extLst>
            <c:ext xmlns:c16="http://schemas.microsoft.com/office/drawing/2014/chart" uri="{C3380CC4-5D6E-409C-BE32-E72D297353CC}">
              <c16:uniqueId val="{00000000-952B-40CA-9B38-FD0DC93A4149}"/>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8E3E8"/>
            </a:solidFill>
            <a:prstDash val="solid"/>
          </a:ln>
        </c:spPr>
        <c:txPr>
          <a:bodyPr anchorCtr="1"/>
          <a:lstStyle/>
          <a:p>
            <a:pPr>
              <a:defRPr sz="1125">
                <a:solidFill>
                  <a:srgbClr val="586B78"/>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majorGridlines>
          <c:spPr>
            <a:ln w="9525">
              <a:solidFill>
                <a:srgbClr val="D8E3E8"/>
              </a:solidFill>
              <a:prstDash val="solid"/>
            </a:ln>
          </c:spPr>
        </c:majorGridlines>
        <c:numFmt formatCode="General" sourceLinked="1"/>
        <c:majorTickMark val="none"/>
        <c:minorTickMark val="none"/>
        <c:tickLblPos val="nextTo"/>
        <c:spPr>
          <a:ln w="9525">
            <a:solidFill>
              <a:srgbClr val="D8E3E8"/>
            </a:solidFill>
            <a:prstDash val="solid"/>
          </a:ln>
        </c:spPr>
        <c:txPr>
          <a:bodyPr anchorCtr="1"/>
          <a:lstStyle/>
          <a:p>
            <a:pPr>
              <a:defRPr sz="1125">
                <a:solidFill>
                  <a:srgbClr val="586B78"/>
                </a:solidFill>
                <a:latin typeface="Arial"/>
                <a:ea typeface="Arial"/>
                <a:cs typeface="Arial"/>
              </a:defRPr>
            </a:pPr>
            <a:endParaRPr lang="en-US"/>
          </a:p>
        </c:txPr>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student portfolio presentation describes historical Olist records only. The source order purchase timestamps run from 4 September 2016 through 17 October 2018. Dataset source: https://www.kaggle.com/datasets/olistbr/brazilian-ecommerce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measures on this slide were calculated or verified in the project workbook. Item price excludes freight. Payment value is a payment-row sum and should not be treated as the same measure as merchandise value. Repeat share uses customer_unique_id and the project's two-or-more distinct delivered order definition.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Olist, Brazilian E-Commerce Public Dataset by Olist, Kaggle. https://www.kaggle.com/datasets/olistbr/brazilian-ecommerce. File names and row counts were recorded in the project workbook. The order timestamp limits come from the project's Clean_Orders query. Geolocation has 1,000,163 rows and was not used for the dashboard KPIs. Excel's worksheet maximum is 1,048,576 rows; the project kept large data in the Data Model/queries where appropriate. Supporting Microsoft sources: https://support.microsoft.com/en-us/excel/excel-specifications-and-limits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workbook records six active relationships and includes join-check queries. Microsoft documentation: Create a Data Model in Excel, https://support.microsoft.com/en-us/excel/create-a-data-model-in-excel; Relationships between tables in a Data Model, https://support.microsoft.com/en-us/excel/relationships-between-tables-in-a-data-model. Dataset table grains and key checks were reviewed in the workbook.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Preparation follows Excel's Power Query and Data Model workflow. Microsoft Support: Power Query for Excel Help, https://support.microsoft.com/en-us/excel/power-query-for-excel-help; How Power Query and Power Pivot work together, https://support.microsoft.com/en-us/excel/how-power-query-and-power-pivot-work-together; Excel specifications and limits, https://support.microsoft.com/en-us/excel/excel-specifications-and-limits. The row counts and cleaning decisions were verified in this project workbook.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Monthly values were transcribed from the verified Pivot_Monthly_Orders and Pivot_Monthly_Value summaries. These are 2017-only charts, not full-period charts. Orders include all statuses. Delivered item price excludes freight. The source order data start in September 2016 and end on 17 October 2018.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Category totals and counts are from the verified delivered-item category PivotTable. Health &amp; beauty: 1,233,131.72 and 9,465 item rows; bed, bath &amp; table: 1,023,434.76 and 10,953 item rows. The top seller result is from the full-period delivered-item seller summary. Values are source dataset units, not profit or audited revenue. Missing categories are represented as Unspecified in summaries, and untranslated source names were retained.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Payment breakdown from the verified Pivot_Payment_Method. Credit card: 12,542,084.19 / 76,795 rows; boleto: 2,869,361.27 / 19,784; voucher: 379,436.87 / 5,775; debit card: 217,989.79 / 1,529; not_defined: 0.00 / 3. Total: 16,008,872.12 / 103,886 payment rows. The chart plots millions of recorded value units to keep labels readable.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Delivery results were calculated for delivered orders only: 96,478 delivered orders, of which 8 lacked an actual delivery date. Eligible denominator: 96,470. On time: 88,644; late: 7,826. The 91.9% rate is 88,644 divided by 96,470. Review score counts: 1=11,424; 2=3,151; 3=8,179; 4=19,142; 5=57,328; total=99,224. Average score=4.0864. Reviews are submitted records, not a complete survey of every order.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Repeat customer analysis uses customer_unique_id and distinct delivered order_id values. The observed measure is 2,801 / 93,358 = 3.0%. This is limited to delivered customers and the historical dataset window; it should not be presented as a current or long-term retention 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Recommendations are proposed follow-up questions, not proven interventions. The project is descriptive; no experiment or causal model was run. Historical source coverage is 2016–2018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First-person reflection based on the project work and the verified workbook state. It describes learning from grain, missing-data handling, and validation without claiming work that was not completed.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Olist. Brazilian E-Commerce Public Dataset by Olist. Kaggle. https://www.kaggle.com/datasets/olistbr/brazilian-ecommerce</a:t>
            </a:r>
          </a:p>
          <a:p>
            <a:r>
              <a:t>Microsoft Support. Power Query for Excel Help. https://support.microsoft.com/en-us/excel/power-query-for-excel-help</a:t>
            </a:r>
          </a:p>
          <a:p>
            <a:r>
              <a:t>Microsoft Support. How Power Query and Power Pivot work together. https://support.microsoft.com/en-us/excel/how-power-query-and-power-pivot-work-together</a:t>
            </a:r>
          </a:p>
          <a:p>
            <a:r>
              <a:t>Microsoft Support. Create a Data Model in Excel. https://support.microsoft.com/en-us/excel/create-a-data-model-in-excel</a:t>
            </a:r>
          </a:p>
          <a:p>
            <a:r>
              <a:t>Microsoft Support. Relationships between tables in a Data Model. https://support.microsoft.com/en-us/excel/relationships-between-tables-in-a-data-model</a:t>
            </a:r>
          </a:p>
          <a:p>
            <a:r>
              <a:t>Microsoft Support. Excel specifications and limits. https://support.microsoft.com/en-us/excel/excel-specifications-and-limits</a:t>
            </a:r>
          </a:p>
          <a:p>
            <a:r>
              <a:t>Accessed 16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1801CBE-D90C-4645-AF0D-A0D18EFA271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CE778094-1056-4CF5-B8F4-36F650F57D5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56FBFC0-23FC-4A1E-9648-C99ADF6B402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47ED213-3C80-4496-8787-F5EC15F85E0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55A80A2B-09A4-4E85-81C9-4F9374F15B9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8445C7B-BC2A-4D09-9C41-DA85F5B848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EA3EA1FC-A048-4A2C-A216-73F3BA6C673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AC481E44-CAE5-4711-8A6B-DD6038DD1FB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55531F0-F218-425F-A99A-E68157D3127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51D16C7A-7DDE-433E-81C9-812B6839F63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hyperlink" Target="https://support.microsoft.com/en-us/excel/excel-specifications-and-limits" TargetMode="External"/><Relationship Id="rId3" Type="http://schemas.openxmlformats.org/officeDocument/2006/relationships/hyperlink" Target="https://www.kaggle.com/datasets/olistbr/brazilian-ecommerce" TargetMode="External"/><Relationship Id="rId7" Type="http://schemas.openxmlformats.org/officeDocument/2006/relationships/hyperlink" Target="https://support.microsoft.com/en-us/excel/relationships-between-tables-in-a-data-model"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hyperlink" Target="https://support.microsoft.com/en-us/excel/create-a-data-model-in-excel" TargetMode="External"/><Relationship Id="rId5" Type="http://schemas.openxmlformats.org/officeDocument/2006/relationships/hyperlink" Target="https://support.microsoft.com/en-us/excel/how-power-query-and-power-pivot-work-together" TargetMode="External"/><Relationship Id="rId4" Type="http://schemas.openxmlformats.org/officeDocument/2006/relationships/hyperlink" Target="https://support.microsoft.com/en-us/excel/power-query-for-excel-hel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cover-eyebrow">
            <a:extLst>
              <a:ext uri="{FF2B5EF4-FFF2-40B4-BE49-F238E27FC236}">
                <a16:creationId xmlns:a16="http://schemas.microsoft.com/office/drawing/2014/main" id="{CC424810-0D79-47BE-8267-809873831F39}"/>
              </a:ext>
            </a:extLst>
          </p:cNvPr>
          <p:cNvSpPr>
            <a:spLocks noGrp="1"/>
          </p:cNvSpPr>
          <p:nvPr/>
        </p:nvSpPr>
        <p:spPr>
          <a:xfrm>
            <a:off x="781050" y="1473869"/>
            <a:ext cx="8572500" cy="285750"/>
          </a:xfrm>
          <a:prstGeom prst="rect">
            <a:avLst/>
          </a:prstGeom>
          <a:noFill/>
          <a:ln w="0">
            <a:noFill/>
            <a:prstDash val="solid"/>
          </a:ln>
        </p:spPr>
        <p:txBody>
          <a:bodyPr wrap="square" lIns="0" tIns="0" rIns="0" bIns="0" anchor="t">
            <a:normAutofit/>
          </a:bodyPr>
          <a:lstStyle>
            <a:defPPr algn="l">
              <a:defRPr sz="1275" b="1" i="0">
                <a:solidFill>
                  <a:srgbClr val="147D82"/>
                </a:solidFill>
                <a:latin typeface="Arial"/>
                <a:ea typeface="Arial"/>
                <a:cs typeface="Arial"/>
              </a:defRPr>
            </a:defPPr>
          </a:lstStyle>
          <a:p>
            <a:pPr algn="l">
              <a:lnSpc>
                <a:spcPct val="100000"/>
              </a:lnSpc>
              <a:buNone/>
              <a:defRPr sz="1275" b="1" i="0">
                <a:solidFill>
                  <a:srgbClr val="147D82"/>
                </a:solidFill>
                <a:latin typeface="Arial"/>
                <a:ea typeface="Arial"/>
                <a:cs typeface="Arial"/>
              </a:defRPr>
            </a:pPr>
            <a:r>
              <a:rPr sz="1275" b="1" i="0" dirty="0">
                <a:solidFill>
                  <a:srgbClr val="147D82"/>
                </a:solidFill>
                <a:latin typeface="Arial"/>
                <a:ea typeface="Arial"/>
                <a:cs typeface="Arial"/>
              </a:rPr>
              <a:t>EXCEL PORTFOLIO PROJECT</a:t>
            </a:r>
          </a:p>
        </p:txBody>
      </p:sp>
      <p:sp>
        <p:nvSpPr>
          <p:cNvPr id="2" name="cover-title">
            <a:extLst>
              <a:ext uri="{FF2B5EF4-FFF2-40B4-BE49-F238E27FC236}">
                <a16:creationId xmlns:a16="http://schemas.microsoft.com/office/drawing/2014/main" id="{C322E545-55E7-4F8F-86EA-EBAA3C7F900D}"/>
              </a:ext>
            </a:extLst>
          </p:cNvPr>
          <p:cNvSpPr>
            <a:spLocks noGrp="1"/>
          </p:cNvSpPr>
          <p:nvPr/>
        </p:nvSpPr>
        <p:spPr>
          <a:xfrm>
            <a:off x="771525" y="1857375"/>
            <a:ext cx="10001250" cy="1762125"/>
          </a:xfrm>
          <a:prstGeom prst="rect">
            <a:avLst/>
          </a:prstGeom>
          <a:noFill/>
          <a:ln w="0">
            <a:noFill/>
            <a:prstDash val="solid"/>
          </a:ln>
        </p:spPr>
        <p:txBody>
          <a:bodyPr wrap="square" lIns="0" tIns="0" rIns="0" bIns="0" anchor="t">
            <a:normAutofit/>
          </a:bodyPr>
          <a:lstStyle>
            <a:defPPr algn="l">
              <a:defRPr sz="4125" b="1" i="0">
                <a:solidFill>
                  <a:srgbClr val="12304A"/>
                </a:solidFill>
                <a:latin typeface="Arial"/>
                <a:ea typeface="Arial"/>
                <a:cs typeface="Arial"/>
              </a:defRPr>
            </a:defPPr>
          </a:lstStyle>
          <a:p>
            <a:pPr algn="l">
              <a:lnSpc>
                <a:spcPct val="98000"/>
              </a:lnSpc>
              <a:buNone/>
              <a:defRPr sz="4125" b="1" i="0">
                <a:solidFill>
                  <a:srgbClr val="12304A"/>
                </a:solidFill>
                <a:latin typeface="Arial"/>
                <a:ea typeface="Arial"/>
                <a:cs typeface="Arial"/>
              </a:defRPr>
            </a:pPr>
            <a:r>
              <a:rPr sz="4125" b="1" i="0" dirty="0">
                <a:solidFill>
                  <a:srgbClr val="12304A"/>
                </a:solidFill>
                <a:latin typeface="Arial"/>
                <a:ea typeface="Arial"/>
                <a:cs typeface="Arial"/>
              </a:rPr>
              <a:t>Brazilian E-Commerce</a:t>
            </a:r>
          </a:p>
          <a:p>
            <a:pPr algn="l">
              <a:lnSpc>
                <a:spcPct val="98000"/>
              </a:lnSpc>
              <a:buNone/>
              <a:defRPr sz="4125" b="1" i="0">
                <a:solidFill>
                  <a:srgbClr val="12304A"/>
                </a:solidFill>
                <a:latin typeface="Arial"/>
                <a:ea typeface="Arial"/>
                <a:cs typeface="Arial"/>
              </a:defRPr>
            </a:pPr>
            <a:r>
              <a:rPr sz="4125" b="1" i="0" dirty="0">
                <a:solidFill>
                  <a:srgbClr val="12304A"/>
                </a:solidFill>
                <a:latin typeface="Arial"/>
                <a:ea typeface="Arial"/>
                <a:cs typeface="Arial"/>
              </a:rPr>
              <a:t>Performance and Customer Experience</a:t>
            </a:r>
          </a:p>
        </p:txBody>
      </p:sp>
      <p:sp>
        <p:nvSpPr>
          <p:cNvPr id="3" name="cover-subtitle">
            <a:extLst>
              <a:ext uri="{FF2B5EF4-FFF2-40B4-BE49-F238E27FC236}">
                <a16:creationId xmlns:a16="http://schemas.microsoft.com/office/drawing/2014/main" id="{1E031485-9A9B-4B3D-AE21-3D7D5030ED23}"/>
              </a:ext>
            </a:extLst>
          </p:cNvPr>
          <p:cNvSpPr>
            <a:spLocks noGrp="1"/>
          </p:cNvSpPr>
          <p:nvPr/>
        </p:nvSpPr>
        <p:spPr>
          <a:xfrm>
            <a:off x="771525" y="3219449"/>
            <a:ext cx="8858250" cy="495300"/>
          </a:xfrm>
          <a:prstGeom prst="rect">
            <a:avLst/>
          </a:prstGeom>
          <a:noFill/>
          <a:ln w="0">
            <a:noFill/>
            <a:prstDash val="solid"/>
          </a:ln>
        </p:spPr>
        <p:txBody>
          <a:bodyPr wrap="square" lIns="0" tIns="0" rIns="0" bIns="0" anchor="t">
            <a:normAutofit/>
          </a:bodyPr>
          <a:lstStyle>
            <a:defPPr algn="l">
              <a:defRPr sz="1875" b="0" i="0">
                <a:solidFill>
                  <a:srgbClr val="22313D"/>
                </a:solidFill>
                <a:latin typeface="Arial"/>
                <a:ea typeface="Arial"/>
                <a:cs typeface="Arial"/>
              </a:defRPr>
            </a:defPPr>
          </a:lstStyle>
          <a:p>
            <a:pPr algn="l">
              <a:lnSpc>
                <a:spcPct val="100000"/>
              </a:lnSpc>
              <a:buNone/>
              <a:defRPr sz="1875" b="0" i="0">
                <a:solidFill>
                  <a:srgbClr val="22313D"/>
                </a:solidFill>
                <a:latin typeface="Arial"/>
                <a:ea typeface="Arial"/>
                <a:cs typeface="Arial"/>
              </a:defRPr>
            </a:pPr>
            <a:r>
              <a:rPr sz="1875" b="0" i="0" dirty="0">
                <a:solidFill>
                  <a:srgbClr val="22313D"/>
                </a:solidFill>
                <a:latin typeface="Arial"/>
                <a:ea typeface="Arial"/>
                <a:cs typeface="Arial"/>
              </a:rPr>
              <a:t>A descriptive analysis of the </a:t>
            </a:r>
            <a:r>
              <a:rPr sz="1875" b="0" i="0" dirty="0" err="1">
                <a:solidFill>
                  <a:srgbClr val="22313D"/>
                </a:solidFill>
                <a:latin typeface="Arial"/>
                <a:ea typeface="Arial"/>
                <a:cs typeface="Arial"/>
              </a:rPr>
              <a:t>Olist</a:t>
            </a:r>
            <a:r>
              <a:rPr sz="1875" b="0" i="0" dirty="0">
                <a:solidFill>
                  <a:srgbClr val="22313D"/>
                </a:solidFill>
                <a:latin typeface="Arial"/>
                <a:ea typeface="Arial"/>
                <a:cs typeface="Arial"/>
              </a:rPr>
              <a:t> public dataset using Excel for Microsoft 365</a:t>
            </a:r>
          </a:p>
        </p:txBody>
      </p:sp>
      <p:sp>
        <p:nvSpPr>
          <p:cNvPr id="4" name="cover-date-range">
            <a:extLst>
              <a:ext uri="{FF2B5EF4-FFF2-40B4-BE49-F238E27FC236}">
                <a16:creationId xmlns:a16="http://schemas.microsoft.com/office/drawing/2014/main" id="{6C0E23DB-FB5B-41F0-A5E4-8BC6FCC41600}"/>
              </a:ext>
            </a:extLst>
          </p:cNvPr>
          <p:cNvSpPr>
            <a:spLocks noGrp="1"/>
          </p:cNvSpPr>
          <p:nvPr/>
        </p:nvSpPr>
        <p:spPr>
          <a:xfrm>
            <a:off x="771525" y="3638551"/>
            <a:ext cx="9906000" cy="342900"/>
          </a:xfrm>
          <a:prstGeom prst="rect">
            <a:avLst/>
          </a:prstGeom>
          <a:noFill/>
          <a:ln w="0">
            <a:noFill/>
            <a:prstDash val="solid"/>
          </a:ln>
        </p:spPr>
        <p:txBody>
          <a:bodyPr wrap="square" lIns="0" tIns="0" rIns="0" bIns="0" anchor="t">
            <a:normAutofit/>
          </a:bodyPr>
          <a:lstStyle>
            <a:defPPr algn="l">
              <a:defRPr sz="1650" b="1" i="0">
                <a:solidFill>
                  <a:srgbClr val="147D82"/>
                </a:solidFill>
                <a:latin typeface="Arial"/>
                <a:ea typeface="Arial"/>
                <a:cs typeface="Arial"/>
              </a:defRPr>
            </a:defPPr>
          </a:lstStyle>
          <a:p>
            <a:pPr algn="l">
              <a:lnSpc>
                <a:spcPct val="100000"/>
              </a:lnSpc>
              <a:buNone/>
              <a:defRPr sz="1650" b="1" i="0">
                <a:solidFill>
                  <a:srgbClr val="147D82"/>
                </a:solidFill>
                <a:latin typeface="Arial"/>
                <a:ea typeface="Arial"/>
                <a:cs typeface="Arial"/>
              </a:defRPr>
            </a:pPr>
            <a:r>
              <a:rPr sz="1650" b="1" i="0" dirty="0">
                <a:solidFill>
                  <a:srgbClr val="147D82"/>
                </a:solidFill>
                <a:latin typeface="Arial"/>
                <a:ea typeface="Arial"/>
                <a:cs typeface="Arial"/>
              </a:rPr>
              <a:t>Order purchase dates: 4 September 2016 to 17 October 2018</a:t>
            </a:r>
          </a:p>
        </p:txBody>
      </p:sp>
      <p:sp>
        <p:nvSpPr>
          <p:cNvPr id="5" name="cover-disclosure">
            <a:extLst>
              <a:ext uri="{FF2B5EF4-FFF2-40B4-BE49-F238E27FC236}">
                <a16:creationId xmlns:a16="http://schemas.microsoft.com/office/drawing/2014/main" id="{9148416A-80A6-4DDF-9587-7FE8775698E9}"/>
              </a:ext>
            </a:extLst>
          </p:cNvPr>
          <p:cNvSpPr>
            <a:spLocks noGrp="1"/>
          </p:cNvSpPr>
          <p:nvPr/>
        </p:nvSpPr>
        <p:spPr>
          <a:xfrm>
            <a:off x="781050" y="4176964"/>
            <a:ext cx="10001250" cy="323850"/>
          </a:xfrm>
          <a:prstGeom prst="rect">
            <a:avLst/>
          </a:prstGeom>
          <a:noFill/>
          <a:ln w="0">
            <a:noFill/>
            <a:prstDash val="solid"/>
          </a:ln>
        </p:spPr>
        <p:txBody>
          <a:bodyPr wrap="square" lIns="0" tIns="0" rIns="0" bIns="0" anchor="t">
            <a:normAutofit/>
          </a:bodyPr>
          <a:lstStyle>
            <a:defPPr algn="l">
              <a:defRPr sz="1350" b="0" i="0">
                <a:solidFill>
                  <a:srgbClr val="586B78"/>
                </a:solidFill>
                <a:latin typeface="Arial"/>
                <a:ea typeface="Arial"/>
                <a:cs typeface="Arial"/>
              </a:defRPr>
            </a:defPPr>
          </a:lstStyle>
          <a:p>
            <a:pPr algn="l">
              <a:lnSpc>
                <a:spcPct val="100000"/>
              </a:lnSpc>
              <a:buNone/>
              <a:defRPr sz="1350" b="0" i="0">
                <a:solidFill>
                  <a:srgbClr val="586B78"/>
                </a:solidFill>
                <a:latin typeface="Arial"/>
                <a:ea typeface="Arial"/>
                <a:cs typeface="Arial"/>
              </a:defRPr>
            </a:pPr>
            <a:r>
              <a:rPr sz="1350" b="0" i="0" dirty="0">
                <a:solidFill>
                  <a:srgbClr val="586B78"/>
                </a:solidFill>
                <a:latin typeface="Arial"/>
                <a:ea typeface="Arial"/>
                <a:cs typeface="Arial"/>
              </a:rPr>
              <a:t>Historical records only. Findings do not represent current market conditions.</a:t>
            </a:r>
          </a:p>
        </p:txBody>
      </p:sp>
      <p:sp>
        <p:nvSpPr>
          <p:cNvPr id="8" name="cover-date-range">
            <a:extLst>
              <a:ext uri="{FF2B5EF4-FFF2-40B4-BE49-F238E27FC236}">
                <a16:creationId xmlns:a16="http://schemas.microsoft.com/office/drawing/2014/main" id="{9E825B9E-26F9-A9E7-159F-B30CDB1C426C}"/>
              </a:ext>
            </a:extLst>
          </p:cNvPr>
          <p:cNvSpPr>
            <a:spLocks noGrp="1"/>
          </p:cNvSpPr>
          <p:nvPr/>
        </p:nvSpPr>
        <p:spPr>
          <a:xfrm>
            <a:off x="9020175" y="5058278"/>
            <a:ext cx="3524250" cy="342900"/>
          </a:xfrm>
          <a:prstGeom prst="rect">
            <a:avLst/>
          </a:prstGeom>
          <a:noFill/>
          <a:ln w="0">
            <a:noFill/>
            <a:prstDash val="solid"/>
          </a:ln>
        </p:spPr>
        <p:txBody>
          <a:bodyPr wrap="square" lIns="0" tIns="0" rIns="0" bIns="0" anchor="t">
            <a:normAutofit/>
          </a:bodyPr>
          <a:lstStyle>
            <a:defPPr algn="l">
              <a:defRPr sz="1650" b="1" i="0">
                <a:solidFill>
                  <a:srgbClr val="147D82"/>
                </a:solidFill>
                <a:latin typeface="Arial"/>
                <a:ea typeface="Arial"/>
                <a:cs typeface="Arial"/>
              </a:defRPr>
            </a:defPPr>
          </a:lstStyle>
          <a:p>
            <a:pPr algn="l">
              <a:lnSpc>
                <a:spcPct val="100000"/>
              </a:lnSpc>
              <a:buNone/>
              <a:defRPr sz="1650" b="1" i="0">
                <a:solidFill>
                  <a:srgbClr val="147D82"/>
                </a:solidFill>
                <a:latin typeface="Arial"/>
                <a:ea typeface="Arial"/>
                <a:cs typeface="Arial"/>
              </a:defRPr>
            </a:pPr>
            <a:r>
              <a:rPr lang="en-US" sz="1650" b="1" dirty="0">
                <a:solidFill>
                  <a:srgbClr val="147D82"/>
                </a:solidFill>
                <a:latin typeface="Arial"/>
                <a:ea typeface="Arial"/>
                <a:cs typeface="Arial"/>
              </a:rPr>
              <a:t>Name: Rojan Chandra Poudel</a:t>
            </a:r>
            <a:endParaRPr sz="1650" b="1" i="0" dirty="0">
              <a:solidFill>
                <a:srgbClr val="147D82"/>
              </a:solidFill>
              <a:latin typeface="Arial"/>
              <a:ea typeface="Arial"/>
              <a:cs typeface="Arial"/>
            </a:endParaRPr>
          </a:p>
        </p:txBody>
      </p:sp>
    </p:spTree>
    <p:extLst>
      <p:ext uri="{BB962C8B-B14F-4D97-AF65-F5344CB8AC3E}">
        <p14:creationId xmlns:p14="http://schemas.microsoft.com/office/powerpoint/2010/main" val="363196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label">
            <a:extLst>
              <a:ext uri="{FF2B5EF4-FFF2-40B4-BE49-F238E27FC236}">
                <a16:creationId xmlns:a16="http://schemas.microsoft.com/office/drawing/2014/main" id="{28CF921C-3EC4-4C24-96F0-53F868B789FA}"/>
              </a:ext>
            </a:extLst>
          </p:cNvPr>
          <p:cNvSpPr>
            <a:spLocks noGrp="1"/>
          </p:cNvSpPr>
          <p:nvPr/>
        </p:nvSpPr>
        <p:spPr>
          <a:xfrm>
            <a:off x="685800" y="257175"/>
            <a:ext cx="8572500" cy="209550"/>
          </a:xfrm>
          <a:prstGeom prst="rect">
            <a:avLst/>
          </a:prstGeom>
          <a:noFill/>
          <a:ln w="0">
            <a:noFill/>
            <a:prstDash val="solid"/>
          </a:ln>
        </p:spPr>
        <p:txBody>
          <a:bodyPr wrap="square" lIns="0" tIns="0" rIns="0" bIns="0" anchor="t">
            <a:normAutofit/>
          </a:bodyPr>
          <a:lstStyle>
            <a:defPPr algn="l">
              <a:defRPr sz="1050" b="1" i="0">
                <a:solidFill>
                  <a:srgbClr val="147D82"/>
                </a:solidFill>
                <a:latin typeface="Arial"/>
                <a:ea typeface="Arial"/>
                <a:cs typeface="Arial"/>
              </a:defRPr>
            </a:defPPr>
          </a:lstStyle>
          <a:p>
            <a:pPr algn="l">
              <a:lnSpc>
                <a:spcPct val="100000"/>
              </a:lnSpc>
              <a:buNone/>
              <a:defRPr sz="1050" b="1" i="0">
                <a:solidFill>
                  <a:srgbClr val="147D82"/>
                </a:solidFill>
                <a:latin typeface="Arial"/>
                <a:ea typeface="Arial"/>
                <a:cs typeface="Arial"/>
              </a:defRPr>
            </a:pPr>
            <a:r>
              <a:rPr sz="1050" b="1" i="0">
                <a:solidFill>
                  <a:srgbClr val="147D82"/>
                </a:solidFill>
                <a:latin typeface="Arial"/>
                <a:ea typeface="Arial"/>
                <a:cs typeface="Arial"/>
              </a:rPr>
              <a:t>PROJECT OVERVIEW</a:t>
            </a:r>
          </a:p>
        </p:txBody>
      </p:sp>
      <p:sp>
        <p:nvSpPr>
          <p:cNvPr id="2" name="slide-title">
            <a:extLst>
              <a:ext uri="{FF2B5EF4-FFF2-40B4-BE49-F238E27FC236}">
                <a16:creationId xmlns:a16="http://schemas.microsoft.com/office/drawing/2014/main" id="{95620B9D-667C-4C66-8474-3A98CCE48DB3}"/>
              </a:ext>
            </a:extLst>
          </p:cNvPr>
          <p:cNvSpPr>
            <a:spLocks noGrp="1"/>
          </p:cNvSpPr>
          <p:nvPr/>
        </p:nvSpPr>
        <p:spPr>
          <a:xfrm>
            <a:off x="685800" y="552450"/>
            <a:ext cx="10820400" cy="552450"/>
          </a:xfrm>
          <a:prstGeom prst="rect">
            <a:avLst/>
          </a:prstGeom>
          <a:noFill/>
          <a:ln w="0">
            <a:noFill/>
            <a:prstDash val="solid"/>
          </a:ln>
        </p:spPr>
        <p:txBody>
          <a:bodyPr wrap="square" lIns="0" tIns="0" rIns="0" bIns="0" anchor="t">
            <a:normAutofit/>
          </a:bodyPr>
          <a:lstStyle>
            <a:defPPr algn="l">
              <a:defRPr sz="3225" b="1" i="0">
                <a:solidFill>
                  <a:srgbClr val="12304A"/>
                </a:solidFill>
                <a:latin typeface="Arial"/>
                <a:ea typeface="Arial"/>
                <a:cs typeface="Arial"/>
              </a:defRPr>
            </a:defPPr>
          </a:lstStyle>
          <a:p>
            <a:pPr algn="l">
              <a:lnSpc>
                <a:spcPct val="100000"/>
              </a:lnSpc>
              <a:buNone/>
              <a:defRPr sz="3225" b="1" i="0">
                <a:solidFill>
                  <a:srgbClr val="12304A"/>
                </a:solidFill>
                <a:latin typeface="Arial"/>
                <a:ea typeface="Arial"/>
                <a:cs typeface="Arial"/>
              </a:defRPr>
            </a:pPr>
            <a:r>
              <a:rPr sz="3225" b="1" i="0">
                <a:solidFill>
                  <a:srgbClr val="12304A"/>
                </a:solidFill>
                <a:latin typeface="Arial"/>
                <a:ea typeface="Arial"/>
                <a:cs typeface="Arial"/>
              </a:rPr>
              <a:t>Executive summary</a:t>
            </a:r>
          </a:p>
        </p:txBody>
      </p:sp>
      <p:sp>
        <p:nvSpPr>
          <p:cNvPr id="3" name="footer">
            <a:extLst>
              <a:ext uri="{FF2B5EF4-FFF2-40B4-BE49-F238E27FC236}">
                <a16:creationId xmlns:a16="http://schemas.microsoft.com/office/drawing/2014/main" id="{F5F3F626-A4F6-47A4-85FA-C302DE0C127A}"/>
              </a:ext>
            </a:extLst>
          </p:cNvPr>
          <p:cNvSpPr>
            <a:spLocks noGrp="1"/>
          </p:cNvSpPr>
          <p:nvPr/>
        </p:nvSpPr>
        <p:spPr>
          <a:xfrm>
            <a:off x="685800" y="6477000"/>
            <a:ext cx="8572500" cy="209550"/>
          </a:xfrm>
          <a:prstGeom prst="rect">
            <a:avLst/>
          </a:prstGeom>
          <a:noFill/>
          <a:ln w="0">
            <a:noFill/>
            <a:prstDash val="solid"/>
          </a:ln>
        </p:spPr>
        <p:txBody>
          <a:bodyPr wrap="square" lIns="0" tIns="0" rIns="0" bIns="0" anchor="t">
            <a:normAutofit/>
          </a:bodyPr>
          <a:lstStyle>
            <a:defPPr algn="l">
              <a:defRPr sz="1050" b="0" i="0">
                <a:solidFill>
                  <a:srgbClr val="586B78"/>
                </a:solidFill>
                <a:latin typeface="Arial"/>
                <a:ea typeface="Arial"/>
                <a:cs typeface="Arial"/>
              </a:defRPr>
            </a:defPPr>
          </a:lstStyle>
          <a:p>
            <a:pPr algn="l">
              <a:lnSpc>
                <a:spcPct val="100000"/>
              </a:lnSpc>
              <a:buNone/>
              <a:defRPr sz="1050" b="0" i="0">
                <a:solidFill>
                  <a:srgbClr val="586B78"/>
                </a:solidFill>
                <a:latin typeface="Arial"/>
                <a:ea typeface="Arial"/>
                <a:cs typeface="Arial"/>
              </a:defRPr>
            </a:pPr>
            <a:r>
              <a:rPr sz="1050" b="0" i="0">
                <a:solidFill>
                  <a:srgbClr val="586B78"/>
                </a:solidFill>
                <a:latin typeface="Arial"/>
                <a:ea typeface="Arial"/>
                <a:cs typeface="Arial"/>
              </a:rPr>
              <a:t>Historical Olist records | 4 Sep 2016–17 Oct 2018</a:t>
            </a:r>
          </a:p>
        </p:txBody>
      </p:sp>
      <p:sp>
        <p:nvSpPr>
          <p:cNvPr id="4" name="summary-lead">
            <a:extLst>
              <a:ext uri="{FF2B5EF4-FFF2-40B4-BE49-F238E27FC236}">
                <a16:creationId xmlns:a16="http://schemas.microsoft.com/office/drawing/2014/main" id="{FD76A3D5-6612-4888-ADF1-43FCC34A268B}"/>
              </a:ext>
            </a:extLst>
          </p:cNvPr>
          <p:cNvSpPr>
            <a:spLocks noGrp="1"/>
          </p:cNvSpPr>
          <p:nvPr/>
        </p:nvSpPr>
        <p:spPr>
          <a:xfrm>
            <a:off x="704850" y="1381125"/>
            <a:ext cx="10572750" cy="714375"/>
          </a:xfrm>
          <a:prstGeom prst="rect">
            <a:avLst/>
          </a:prstGeom>
          <a:noFill/>
          <a:ln w="0">
            <a:noFill/>
            <a:prstDash val="solid"/>
          </a:ln>
        </p:spPr>
        <p:txBody>
          <a:bodyPr wrap="square" lIns="0" tIns="0" rIns="0" bIns="0" anchor="t">
            <a:normAutofit/>
          </a:bodyPr>
          <a:lstStyle>
            <a:defPPr algn="l">
              <a:defRPr sz="2100" b="1" i="0">
                <a:solidFill>
                  <a:srgbClr val="22313D"/>
                </a:solidFill>
                <a:latin typeface="Arial"/>
                <a:ea typeface="Arial"/>
                <a:cs typeface="Arial"/>
              </a:defRPr>
            </a:defPPr>
          </a:lstStyle>
          <a:p>
            <a:pPr algn="l">
              <a:lnSpc>
                <a:spcPct val="100000"/>
              </a:lnSpc>
              <a:buNone/>
              <a:defRPr sz="2100" b="1" i="0">
                <a:solidFill>
                  <a:srgbClr val="22313D"/>
                </a:solidFill>
                <a:latin typeface="Arial"/>
                <a:ea typeface="Arial"/>
                <a:cs typeface="Arial"/>
              </a:defRPr>
            </a:pPr>
            <a:r>
              <a:rPr sz="2100" b="1" i="0">
                <a:solidFill>
                  <a:srgbClr val="22313D"/>
                </a:solidFill>
                <a:latin typeface="Arial"/>
                <a:ea typeface="Arial"/>
                <a:cs typeface="Arial"/>
              </a:rPr>
              <a:t>A multi-table Excel model makes the measures easier to trust because each number is tied to the right record grain.</a:t>
            </a:r>
          </a:p>
        </p:txBody>
      </p:sp>
      <p:sp>
        <p:nvSpPr>
          <p:cNvPr id="5" name="summary-value-0">
            <a:extLst>
              <a:ext uri="{FF2B5EF4-FFF2-40B4-BE49-F238E27FC236}">
                <a16:creationId xmlns:a16="http://schemas.microsoft.com/office/drawing/2014/main" id="{B4A13498-45D0-4F29-B500-D263D04A5147}"/>
              </a:ext>
            </a:extLst>
          </p:cNvPr>
          <p:cNvSpPr>
            <a:spLocks noGrp="1"/>
          </p:cNvSpPr>
          <p:nvPr/>
        </p:nvSpPr>
        <p:spPr>
          <a:xfrm>
            <a:off x="742950" y="2476500"/>
            <a:ext cx="3333750" cy="495300"/>
          </a:xfrm>
          <a:prstGeom prst="rect">
            <a:avLst/>
          </a:prstGeom>
          <a:noFill/>
          <a:ln w="0">
            <a:noFill/>
            <a:prstDash val="solid"/>
          </a:ln>
        </p:spPr>
        <p:txBody>
          <a:bodyPr wrap="square" lIns="0" tIns="0" rIns="0" bIns="0" anchor="t">
            <a:normAutofit/>
          </a:bodyPr>
          <a:lstStyle>
            <a:defPPr algn="ctr">
              <a:defRPr sz="2850" b="1" i="0">
                <a:solidFill>
                  <a:srgbClr val="147D82"/>
                </a:solidFill>
                <a:latin typeface="Arial"/>
                <a:ea typeface="Arial"/>
                <a:cs typeface="Arial"/>
              </a:defRPr>
            </a:defPPr>
          </a:lstStyle>
          <a:p>
            <a:pPr algn="ctr">
              <a:lnSpc>
                <a:spcPct val="100000"/>
              </a:lnSpc>
              <a:buNone/>
              <a:defRPr sz="2850" b="1" i="0">
                <a:solidFill>
                  <a:srgbClr val="147D82"/>
                </a:solidFill>
                <a:latin typeface="Arial"/>
                <a:ea typeface="Arial"/>
                <a:cs typeface="Arial"/>
              </a:defRPr>
            </a:pPr>
            <a:r>
              <a:rPr sz="2850" b="1" i="0">
                <a:solidFill>
                  <a:srgbClr val="147D82"/>
                </a:solidFill>
                <a:latin typeface="Arial"/>
                <a:ea typeface="Arial"/>
                <a:cs typeface="Arial"/>
              </a:rPr>
              <a:t>99,441</a:t>
            </a:r>
          </a:p>
        </p:txBody>
      </p:sp>
      <p:sp>
        <p:nvSpPr>
          <p:cNvPr id="6" name="summary-label-0">
            <a:extLst>
              <a:ext uri="{FF2B5EF4-FFF2-40B4-BE49-F238E27FC236}">
                <a16:creationId xmlns:a16="http://schemas.microsoft.com/office/drawing/2014/main" id="{515F5D31-984F-470E-A5EB-225BB44514B0}"/>
              </a:ext>
            </a:extLst>
          </p:cNvPr>
          <p:cNvSpPr>
            <a:spLocks noGrp="1"/>
          </p:cNvSpPr>
          <p:nvPr/>
        </p:nvSpPr>
        <p:spPr>
          <a:xfrm>
            <a:off x="857250" y="3028950"/>
            <a:ext cx="3105150" cy="685800"/>
          </a:xfrm>
          <a:prstGeom prst="rect">
            <a:avLst/>
          </a:prstGeom>
          <a:noFill/>
          <a:ln w="0">
            <a:noFill/>
            <a:prstDash val="solid"/>
          </a:ln>
        </p:spPr>
        <p:txBody>
          <a:bodyPr wrap="square" lIns="0" tIns="0" rIns="0" bIns="0" anchor="t">
            <a:normAutofit/>
          </a:bodyPr>
          <a:lstStyle>
            <a:defPPr algn="ctr">
              <a:defRPr sz="1500" b="0" i="0">
                <a:solidFill>
                  <a:srgbClr val="22313D"/>
                </a:solidFill>
                <a:latin typeface="Arial"/>
                <a:ea typeface="Arial"/>
                <a:cs typeface="Arial"/>
              </a:defRPr>
            </a:defPPr>
          </a:lstStyle>
          <a:p>
            <a:pPr algn="ctr">
              <a:lnSpc>
                <a:spcPct val="100000"/>
              </a:lnSpc>
              <a:buNone/>
              <a:defRPr sz="1500" b="0" i="0">
                <a:solidFill>
                  <a:srgbClr val="22313D"/>
                </a:solidFill>
                <a:latin typeface="Arial"/>
                <a:ea typeface="Arial"/>
                <a:cs typeface="Arial"/>
              </a:defRPr>
            </a:pPr>
            <a:r>
              <a:rPr sz="1500" b="0" i="0">
                <a:solidFill>
                  <a:srgbClr val="22313D"/>
                </a:solidFill>
                <a:latin typeface="Arial"/>
                <a:ea typeface="Arial"/>
                <a:cs typeface="Arial"/>
              </a:rPr>
              <a:t>orders across all recorded statuses</a:t>
            </a:r>
          </a:p>
        </p:txBody>
      </p:sp>
      <p:sp>
        <p:nvSpPr>
          <p:cNvPr id="7" name="summary-value-1">
            <a:extLst>
              <a:ext uri="{FF2B5EF4-FFF2-40B4-BE49-F238E27FC236}">
                <a16:creationId xmlns:a16="http://schemas.microsoft.com/office/drawing/2014/main" id="{4E098849-1E44-4275-B327-F4AE8AC6BCEE}"/>
              </a:ext>
            </a:extLst>
          </p:cNvPr>
          <p:cNvSpPr>
            <a:spLocks noGrp="1"/>
          </p:cNvSpPr>
          <p:nvPr/>
        </p:nvSpPr>
        <p:spPr>
          <a:xfrm>
            <a:off x="4476750" y="2476500"/>
            <a:ext cx="3333750" cy="495300"/>
          </a:xfrm>
          <a:prstGeom prst="rect">
            <a:avLst/>
          </a:prstGeom>
          <a:noFill/>
          <a:ln w="0">
            <a:noFill/>
            <a:prstDash val="solid"/>
          </a:ln>
        </p:spPr>
        <p:txBody>
          <a:bodyPr wrap="square" lIns="0" tIns="0" rIns="0" bIns="0" anchor="t">
            <a:normAutofit/>
          </a:bodyPr>
          <a:lstStyle>
            <a:defPPr algn="ctr">
              <a:defRPr sz="2850" b="1" i="0">
                <a:solidFill>
                  <a:srgbClr val="147D82"/>
                </a:solidFill>
                <a:latin typeface="Arial"/>
                <a:ea typeface="Arial"/>
                <a:cs typeface="Arial"/>
              </a:defRPr>
            </a:defPPr>
          </a:lstStyle>
          <a:p>
            <a:pPr algn="ctr">
              <a:lnSpc>
                <a:spcPct val="100000"/>
              </a:lnSpc>
              <a:buNone/>
              <a:defRPr sz="2850" b="1" i="0">
                <a:solidFill>
                  <a:srgbClr val="147D82"/>
                </a:solidFill>
                <a:latin typeface="Arial"/>
                <a:ea typeface="Arial"/>
                <a:cs typeface="Arial"/>
              </a:defRPr>
            </a:pPr>
            <a:r>
              <a:rPr sz="2850" b="1" i="0">
                <a:solidFill>
                  <a:srgbClr val="147D82"/>
                </a:solidFill>
                <a:latin typeface="Arial"/>
                <a:ea typeface="Arial"/>
                <a:cs typeface="Arial"/>
              </a:rPr>
              <a:t>13.22M</a:t>
            </a:r>
          </a:p>
        </p:txBody>
      </p:sp>
      <p:sp>
        <p:nvSpPr>
          <p:cNvPr id="8" name="summary-label-1">
            <a:extLst>
              <a:ext uri="{FF2B5EF4-FFF2-40B4-BE49-F238E27FC236}">
                <a16:creationId xmlns:a16="http://schemas.microsoft.com/office/drawing/2014/main" id="{8350653D-9FC9-45AB-AEB4-5264AABC17BB}"/>
              </a:ext>
            </a:extLst>
          </p:cNvPr>
          <p:cNvSpPr>
            <a:spLocks noGrp="1"/>
          </p:cNvSpPr>
          <p:nvPr/>
        </p:nvSpPr>
        <p:spPr>
          <a:xfrm>
            <a:off x="4591050" y="3028950"/>
            <a:ext cx="3105150" cy="685800"/>
          </a:xfrm>
          <a:prstGeom prst="rect">
            <a:avLst/>
          </a:prstGeom>
          <a:noFill/>
          <a:ln w="0">
            <a:noFill/>
            <a:prstDash val="solid"/>
          </a:ln>
        </p:spPr>
        <p:txBody>
          <a:bodyPr wrap="square" lIns="0" tIns="0" rIns="0" bIns="0" anchor="t">
            <a:normAutofit/>
          </a:bodyPr>
          <a:lstStyle>
            <a:defPPr algn="ctr">
              <a:defRPr sz="1500" b="0" i="0">
                <a:solidFill>
                  <a:srgbClr val="22313D"/>
                </a:solidFill>
                <a:latin typeface="Arial"/>
                <a:ea typeface="Arial"/>
                <a:cs typeface="Arial"/>
              </a:defRPr>
            </a:defPPr>
          </a:lstStyle>
          <a:p>
            <a:pPr algn="ctr">
              <a:lnSpc>
                <a:spcPct val="100000"/>
              </a:lnSpc>
              <a:buNone/>
              <a:defRPr sz="1500" b="0" i="0">
                <a:solidFill>
                  <a:srgbClr val="22313D"/>
                </a:solidFill>
                <a:latin typeface="Arial"/>
                <a:ea typeface="Arial"/>
                <a:cs typeface="Arial"/>
              </a:defRPr>
            </a:pPr>
            <a:r>
              <a:rPr sz="1500" b="0" i="0">
                <a:solidFill>
                  <a:srgbClr val="22313D"/>
                </a:solidFill>
                <a:latin typeface="Arial"/>
                <a:ea typeface="Arial"/>
                <a:cs typeface="Arial"/>
              </a:rPr>
              <a:t>delivered item price units; freight excluded</a:t>
            </a:r>
          </a:p>
        </p:txBody>
      </p:sp>
      <p:sp>
        <p:nvSpPr>
          <p:cNvPr id="9" name="summary-value-2">
            <a:extLst>
              <a:ext uri="{FF2B5EF4-FFF2-40B4-BE49-F238E27FC236}">
                <a16:creationId xmlns:a16="http://schemas.microsoft.com/office/drawing/2014/main" id="{6F10CD84-E01D-4A4A-94E7-5CB16566EC1B}"/>
              </a:ext>
            </a:extLst>
          </p:cNvPr>
          <p:cNvSpPr>
            <a:spLocks noGrp="1"/>
          </p:cNvSpPr>
          <p:nvPr/>
        </p:nvSpPr>
        <p:spPr>
          <a:xfrm>
            <a:off x="8210550" y="2476500"/>
            <a:ext cx="3333750" cy="495300"/>
          </a:xfrm>
          <a:prstGeom prst="rect">
            <a:avLst/>
          </a:prstGeom>
          <a:noFill/>
          <a:ln w="0">
            <a:noFill/>
            <a:prstDash val="solid"/>
          </a:ln>
        </p:spPr>
        <p:txBody>
          <a:bodyPr wrap="square" lIns="0" tIns="0" rIns="0" bIns="0" anchor="t">
            <a:normAutofit/>
          </a:bodyPr>
          <a:lstStyle>
            <a:defPPr algn="ctr">
              <a:defRPr sz="2850" b="1" i="0">
                <a:solidFill>
                  <a:srgbClr val="147D82"/>
                </a:solidFill>
                <a:latin typeface="Arial"/>
                <a:ea typeface="Arial"/>
                <a:cs typeface="Arial"/>
              </a:defRPr>
            </a:defPPr>
          </a:lstStyle>
          <a:p>
            <a:pPr algn="ctr">
              <a:lnSpc>
                <a:spcPct val="100000"/>
              </a:lnSpc>
              <a:buNone/>
              <a:defRPr sz="2850" b="1" i="0">
                <a:solidFill>
                  <a:srgbClr val="147D82"/>
                </a:solidFill>
                <a:latin typeface="Arial"/>
                <a:ea typeface="Arial"/>
                <a:cs typeface="Arial"/>
              </a:defRPr>
            </a:pPr>
            <a:r>
              <a:rPr sz="2850" b="1" i="0">
                <a:solidFill>
                  <a:srgbClr val="147D82"/>
                </a:solidFill>
                <a:latin typeface="Arial"/>
                <a:ea typeface="Arial"/>
                <a:cs typeface="Arial"/>
              </a:rPr>
              <a:t>91.9%</a:t>
            </a:r>
          </a:p>
        </p:txBody>
      </p:sp>
      <p:sp>
        <p:nvSpPr>
          <p:cNvPr id="10" name="summary-label-2">
            <a:extLst>
              <a:ext uri="{FF2B5EF4-FFF2-40B4-BE49-F238E27FC236}">
                <a16:creationId xmlns:a16="http://schemas.microsoft.com/office/drawing/2014/main" id="{92EE17F5-57DD-4BBB-89EE-C5B4364F25E5}"/>
              </a:ext>
            </a:extLst>
          </p:cNvPr>
          <p:cNvSpPr>
            <a:spLocks noGrp="1"/>
          </p:cNvSpPr>
          <p:nvPr/>
        </p:nvSpPr>
        <p:spPr>
          <a:xfrm>
            <a:off x="8324850" y="3028950"/>
            <a:ext cx="3105150" cy="685800"/>
          </a:xfrm>
          <a:prstGeom prst="rect">
            <a:avLst/>
          </a:prstGeom>
          <a:noFill/>
          <a:ln w="0">
            <a:noFill/>
            <a:prstDash val="solid"/>
          </a:ln>
        </p:spPr>
        <p:txBody>
          <a:bodyPr wrap="square" lIns="0" tIns="0" rIns="0" bIns="0" anchor="t">
            <a:normAutofit/>
          </a:bodyPr>
          <a:lstStyle>
            <a:defPPr algn="ctr">
              <a:defRPr sz="1500" b="0" i="0">
                <a:solidFill>
                  <a:srgbClr val="22313D"/>
                </a:solidFill>
                <a:latin typeface="Arial"/>
                <a:ea typeface="Arial"/>
                <a:cs typeface="Arial"/>
              </a:defRPr>
            </a:defPPr>
          </a:lstStyle>
          <a:p>
            <a:pPr algn="ctr">
              <a:lnSpc>
                <a:spcPct val="100000"/>
              </a:lnSpc>
              <a:buNone/>
              <a:defRPr sz="1500" b="0" i="0">
                <a:solidFill>
                  <a:srgbClr val="22313D"/>
                </a:solidFill>
                <a:latin typeface="Arial"/>
                <a:ea typeface="Arial"/>
                <a:cs typeface="Arial"/>
              </a:defRPr>
            </a:pPr>
            <a:r>
              <a:rPr sz="1500" b="0" i="0">
                <a:solidFill>
                  <a:srgbClr val="22313D"/>
                </a:solidFill>
                <a:latin typeface="Arial"/>
                <a:ea typeface="Arial"/>
                <a:cs typeface="Arial"/>
              </a:rPr>
              <a:t>on time among 96,470 eligible delivered orders</a:t>
            </a:r>
          </a:p>
        </p:txBody>
      </p:sp>
      <p:sp>
        <p:nvSpPr>
          <p:cNvPr id="11" name="summary-value-3">
            <a:extLst>
              <a:ext uri="{FF2B5EF4-FFF2-40B4-BE49-F238E27FC236}">
                <a16:creationId xmlns:a16="http://schemas.microsoft.com/office/drawing/2014/main" id="{40C56EA8-F8A2-4193-8CF6-D172FD1AEBA5}"/>
              </a:ext>
            </a:extLst>
          </p:cNvPr>
          <p:cNvSpPr>
            <a:spLocks noGrp="1"/>
          </p:cNvSpPr>
          <p:nvPr/>
        </p:nvSpPr>
        <p:spPr>
          <a:xfrm>
            <a:off x="742950" y="4238625"/>
            <a:ext cx="3333750" cy="495300"/>
          </a:xfrm>
          <a:prstGeom prst="rect">
            <a:avLst/>
          </a:prstGeom>
          <a:noFill/>
          <a:ln w="0">
            <a:noFill/>
            <a:prstDash val="solid"/>
          </a:ln>
        </p:spPr>
        <p:txBody>
          <a:bodyPr wrap="square" lIns="0" tIns="0" rIns="0" bIns="0" anchor="t">
            <a:normAutofit/>
          </a:bodyPr>
          <a:lstStyle>
            <a:defPPr algn="ctr">
              <a:defRPr sz="2850" b="1" i="0">
                <a:solidFill>
                  <a:srgbClr val="147D82"/>
                </a:solidFill>
                <a:latin typeface="Arial"/>
                <a:ea typeface="Arial"/>
                <a:cs typeface="Arial"/>
              </a:defRPr>
            </a:defPPr>
          </a:lstStyle>
          <a:p>
            <a:pPr algn="ctr">
              <a:lnSpc>
                <a:spcPct val="100000"/>
              </a:lnSpc>
              <a:buNone/>
              <a:defRPr sz="2850" b="1" i="0">
                <a:solidFill>
                  <a:srgbClr val="147D82"/>
                </a:solidFill>
                <a:latin typeface="Arial"/>
                <a:ea typeface="Arial"/>
                <a:cs typeface="Arial"/>
              </a:defRPr>
            </a:pPr>
            <a:r>
              <a:rPr sz="2850" b="1" i="0">
                <a:solidFill>
                  <a:srgbClr val="147D82"/>
                </a:solidFill>
                <a:latin typeface="Arial"/>
                <a:ea typeface="Arial"/>
                <a:cs typeface="Arial"/>
              </a:rPr>
              <a:t>4.09 / 5</a:t>
            </a:r>
          </a:p>
        </p:txBody>
      </p:sp>
      <p:sp>
        <p:nvSpPr>
          <p:cNvPr id="12" name="summary-label-3">
            <a:extLst>
              <a:ext uri="{FF2B5EF4-FFF2-40B4-BE49-F238E27FC236}">
                <a16:creationId xmlns:a16="http://schemas.microsoft.com/office/drawing/2014/main" id="{120EFD9C-934A-40FD-88ED-BB64065D9F3D}"/>
              </a:ext>
            </a:extLst>
          </p:cNvPr>
          <p:cNvSpPr>
            <a:spLocks noGrp="1"/>
          </p:cNvSpPr>
          <p:nvPr/>
        </p:nvSpPr>
        <p:spPr>
          <a:xfrm>
            <a:off x="857250" y="4791075"/>
            <a:ext cx="3105150" cy="685800"/>
          </a:xfrm>
          <a:prstGeom prst="rect">
            <a:avLst/>
          </a:prstGeom>
          <a:noFill/>
          <a:ln w="0">
            <a:noFill/>
            <a:prstDash val="solid"/>
          </a:ln>
        </p:spPr>
        <p:txBody>
          <a:bodyPr wrap="square" lIns="0" tIns="0" rIns="0" bIns="0" anchor="t">
            <a:normAutofit/>
          </a:bodyPr>
          <a:lstStyle>
            <a:defPPr algn="ctr">
              <a:defRPr sz="1500" b="0" i="0">
                <a:solidFill>
                  <a:srgbClr val="22313D"/>
                </a:solidFill>
                <a:latin typeface="Arial"/>
                <a:ea typeface="Arial"/>
                <a:cs typeface="Arial"/>
              </a:defRPr>
            </a:defPPr>
          </a:lstStyle>
          <a:p>
            <a:pPr algn="ctr">
              <a:lnSpc>
                <a:spcPct val="100000"/>
              </a:lnSpc>
              <a:buNone/>
              <a:defRPr sz="1500" b="0" i="0">
                <a:solidFill>
                  <a:srgbClr val="22313D"/>
                </a:solidFill>
                <a:latin typeface="Arial"/>
                <a:ea typeface="Arial"/>
                <a:cs typeface="Arial"/>
              </a:defRPr>
            </a:pPr>
            <a:r>
              <a:rPr sz="1500" b="0" i="0">
                <a:solidFill>
                  <a:srgbClr val="22313D"/>
                </a:solidFill>
                <a:latin typeface="Arial"/>
                <a:ea typeface="Arial"/>
                <a:cs typeface="Arial"/>
              </a:rPr>
              <a:t>average across 99,224 review records</a:t>
            </a:r>
          </a:p>
        </p:txBody>
      </p:sp>
      <p:sp>
        <p:nvSpPr>
          <p:cNvPr id="13" name="summary-value-4">
            <a:extLst>
              <a:ext uri="{FF2B5EF4-FFF2-40B4-BE49-F238E27FC236}">
                <a16:creationId xmlns:a16="http://schemas.microsoft.com/office/drawing/2014/main" id="{0C1BF038-C559-4EB2-BB81-DAE8963C407E}"/>
              </a:ext>
            </a:extLst>
          </p:cNvPr>
          <p:cNvSpPr>
            <a:spLocks noGrp="1"/>
          </p:cNvSpPr>
          <p:nvPr/>
        </p:nvSpPr>
        <p:spPr>
          <a:xfrm>
            <a:off x="4476750" y="4238625"/>
            <a:ext cx="3333750" cy="495300"/>
          </a:xfrm>
          <a:prstGeom prst="rect">
            <a:avLst/>
          </a:prstGeom>
          <a:noFill/>
          <a:ln w="0">
            <a:noFill/>
            <a:prstDash val="solid"/>
          </a:ln>
        </p:spPr>
        <p:txBody>
          <a:bodyPr wrap="square" lIns="0" tIns="0" rIns="0" bIns="0" anchor="t">
            <a:normAutofit/>
          </a:bodyPr>
          <a:lstStyle>
            <a:defPPr algn="ctr">
              <a:defRPr sz="2850" b="1" i="0">
                <a:solidFill>
                  <a:srgbClr val="147D82"/>
                </a:solidFill>
                <a:latin typeface="Arial"/>
                <a:ea typeface="Arial"/>
                <a:cs typeface="Arial"/>
              </a:defRPr>
            </a:defPPr>
          </a:lstStyle>
          <a:p>
            <a:pPr algn="ctr">
              <a:lnSpc>
                <a:spcPct val="100000"/>
              </a:lnSpc>
              <a:buNone/>
              <a:defRPr sz="2850" b="1" i="0">
                <a:solidFill>
                  <a:srgbClr val="147D82"/>
                </a:solidFill>
                <a:latin typeface="Arial"/>
                <a:ea typeface="Arial"/>
                <a:cs typeface="Arial"/>
              </a:defRPr>
            </a:pPr>
            <a:r>
              <a:rPr sz="2850" b="1" i="0">
                <a:solidFill>
                  <a:srgbClr val="147D82"/>
                </a:solidFill>
                <a:latin typeface="Arial"/>
                <a:ea typeface="Arial"/>
                <a:cs typeface="Arial"/>
              </a:rPr>
              <a:t>3.0%</a:t>
            </a:r>
          </a:p>
        </p:txBody>
      </p:sp>
      <p:sp>
        <p:nvSpPr>
          <p:cNvPr id="14" name="summary-label-4">
            <a:extLst>
              <a:ext uri="{FF2B5EF4-FFF2-40B4-BE49-F238E27FC236}">
                <a16:creationId xmlns:a16="http://schemas.microsoft.com/office/drawing/2014/main" id="{1A6E15F5-94ED-4444-B971-163671559A2E}"/>
              </a:ext>
            </a:extLst>
          </p:cNvPr>
          <p:cNvSpPr>
            <a:spLocks noGrp="1"/>
          </p:cNvSpPr>
          <p:nvPr/>
        </p:nvSpPr>
        <p:spPr>
          <a:xfrm>
            <a:off x="4591050" y="4791075"/>
            <a:ext cx="3105150" cy="685800"/>
          </a:xfrm>
          <a:prstGeom prst="rect">
            <a:avLst/>
          </a:prstGeom>
          <a:noFill/>
          <a:ln w="0">
            <a:noFill/>
            <a:prstDash val="solid"/>
          </a:ln>
        </p:spPr>
        <p:txBody>
          <a:bodyPr wrap="square" lIns="0" tIns="0" rIns="0" bIns="0" anchor="t">
            <a:normAutofit/>
          </a:bodyPr>
          <a:lstStyle>
            <a:defPPr algn="ctr">
              <a:defRPr sz="1500" b="0" i="0">
                <a:solidFill>
                  <a:srgbClr val="22313D"/>
                </a:solidFill>
                <a:latin typeface="Arial"/>
                <a:ea typeface="Arial"/>
                <a:cs typeface="Arial"/>
              </a:defRPr>
            </a:defPPr>
          </a:lstStyle>
          <a:p>
            <a:pPr algn="ctr">
              <a:lnSpc>
                <a:spcPct val="100000"/>
              </a:lnSpc>
              <a:buNone/>
              <a:defRPr sz="1500" b="0" i="0">
                <a:solidFill>
                  <a:srgbClr val="22313D"/>
                </a:solidFill>
                <a:latin typeface="Arial"/>
                <a:ea typeface="Arial"/>
                <a:cs typeface="Arial"/>
              </a:defRPr>
            </a:pPr>
            <a:r>
              <a:rPr sz="1500" b="0" i="0">
                <a:solidFill>
                  <a:srgbClr val="22313D"/>
                </a:solidFill>
                <a:latin typeface="Arial"/>
                <a:ea typeface="Arial"/>
                <a:cs typeface="Arial"/>
              </a:rPr>
              <a:t>observed repeat-customer share in the dataset window</a:t>
            </a:r>
          </a:p>
        </p:txBody>
      </p:sp>
      <p:sp>
        <p:nvSpPr>
          <p:cNvPr id="15" name="summary-value-5">
            <a:extLst>
              <a:ext uri="{FF2B5EF4-FFF2-40B4-BE49-F238E27FC236}">
                <a16:creationId xmlns:a16="http://schemas.microsoft.com/office/drawing/2014/main" id="{7B9CDA90-3C88-4A63-A373-5E30A4560A87}"/>
              </a:ext>
            </a:extLst>
          </p:cNvPr>
          <p:cNvSpPr>
            <a:spLocks noGrp="1"/>
          </p:cNvSpPr>
          <p:nvPr/>
        </p:nvSpPr>
        <p:spPr>
          <a:xfrm>
            <a:off x="8210550" y="4238625"/>
            <a:ext cx="3333750" cy="495300"/>
          </a:xfrm>
          <a:prstGeom prst="rect">
            <a:avLst/>
          </a:prstGeom>
          <a:noFill/>
          <a:ln w="0">
            <a:noFill/>
            <a:prstDash val="solid"/>
          </a:ln>
        </p:spPr>
        <p:txBody>
          <a:bodyPr wrap="square" lIns="0" tIns="0" rIns="0" bIns="0" anchor="t">
            <a:normAutofit/>
          </a:bodyPr>
          <a:lstStyle>
            <a:defPPr algn="ctr">
              <a:defRPr sz="2850" b="1" i="0">
                <a:solidFill>
                  <a:srgbClr val="147D82"/>
                </a:solidFill>
                <a:latin typeface="Arial"/>
                <a:ea typeface="Arial"/>
                <a:cs typeface="Arial"/>
              </a:defRPr>
            </a:defPPr>
          </a:lstStyle>
          <a:p>
            <a:pPr algn="ctr">
              <a:lnSpc>
                <a:spcPct val="100000"/>
              </a:lnSpc>
              <a:buNone/>
              <a:defRPr sz="2850" b="1" i="0">
                <a:solidFill>
                  <a:srgbClr val="147D82"/>
                </a:solidFill>
                <a:latin typeface="Arial"/>
                <a:ea typeface="Arial"/>
                <a:cs typeface="Arial"/>
              </a:defRPr>
            </a:pPr>
            <a:r>
              <a:rPr sz="2850" b="1" i="0">
                <a:solidFill>
                  <a:srgbClr val="147D82"/>
                </a:solidFill>
                <a:latin typeface="Arial"/>
                <a:ea typeface="Arial"/>
                <a:cs typeface="Arial"/>
              </a:rPr>
              <a:t>16.01M</a:t>
            </a:r>
          </a:p>
        </p:txBody>
      </p:sp>
      <p:sp>
        <p:nvSpPr>
          <p:cNvPr id="16" name="summary-label-5">
            <a:extLst>
              <a:ext uri="{FF2B5EF4-FFF2-40B4-BE49-F238E27FC236}">
                <a16:creationId xmlns:a16="http://schemas.microsoft.com/office/drawing/2014/main" id="{0099DDA6-0CA7-48BA-8BB6-4CC69BED37D5}"/>
              </a:ext>
            </a:extLst>
          </p:cNvPr>
          <p:cNvSpPr>
            <a:spLocks noGrp="1"/>
          </p:cNvSpPr>
          <p:nvPr/>
        </p:nvSpPr>
        <p:spPr>
          <a:xfrm>
            <a:off x="8324850" y="4791075"/>
            <a:ext cx="3105150" cy="685800"/>
          </a:xfrm>
          <a:prstGeom prst="rect">
            <a:avLst/>
          </a:prstGeom>
          <a:noFill/>
          <a:ln w="0">
            <a:noFill/>
            <a:prstDash val="solid"/>
          </a:ln>
        </p:spPr>
        <p:txBody>
          <a:bodyPr wrap="square" lIns="0" tIns="0" rIns="0" bIns="0" anchor="t">
            <a:normAutofit/>
          </a:bodyPr>
          <a:lstStyle>
            <a:defPPr algn="ctr">
              <a:defRPr sz="1500" b="0" i="0">
                <a:solidFill>
                  <a:srgbClr val="22313D"/>
                </a:solidFill>
                <a:latin typeface="Arial"/>
                <a:ea typeface="Arial"/>
                <a:cs typeface="Arial"/>
              </a:defRPr>
            </a:defPPr>
          </a:lstStyle>
          <a:p>
            <a:pPr algn="ctr">
              <a:lnSpc>
                <a:spcPct val="100000"/>
              </a:lnSpc>
              <a:buNone/>
              <a:defRPr sz="1500" b="0" i="0">
                <a:solidFill>
                  <a:srgbClr val="22313D"/>
                </a:solidFill>
                <a:latin typeface="Arial"/>
                <a:ea typeface="Arial"/>
                <a:cs typeface="Arial"/>
              </a:defRPr>
            </a:pPr>
            <a:r>
              <a:rPr sz="1500" b="0" i="0">
                <a:solidFill>
                  <a:srgbClr val="22313D"/>
                </a:solidFill>
                <a:latin typeface="Arial"/>
                <a:ea typeface="Arial"/>
                <a:cs typeface="Arial"/>
              </a:rPr>
              <a:t>recorded payment value units; separate measure</a:t>
            </a:r>
          </a:p>
        </p:txBody>
      </p:sp>
    </p:spTree>
    <p:extLst>
      <p:ext uri="{BB962C8B-B14F-4D97-AF65-F5344CB8AC3E}">
        <p14:creationId xmlns:p14="http://schemas.microsoft.com/office/powerpoint/2010/main" val="3515893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045EDD79-E732-4528-A15B-7B4CE10CFF16}"/>
              </a:ext>
            </a:extLst>
          </p:cNvPr>
          <p:cNvSpPr>
            <a:spLocks noGrp="1"/>
          </p:cNvSpPr>
          <p:nvPr/>
        </p:nvSpPr>
        <p:spPr>
          <a:xfrm>
            <a:off x="685800" y="257175"/>
            <a:ext cx="8572500" cy="209550"/>
          </a:xfrm>
          <a:prstGeom prst="rect">
            <a:avLst/>
          </a:prstGeom>
          <a:noFill/>
          <a:ln w="0">
            <a:noFill/>
            <a:prstDash val="solid"/>
          </a:ln>
        </p:spPr>
        <p:txBody>
          <a:bodyPr wrap="square" lIns="0" tIns="0" rIns="0" bIns="0" anchor="t">
            <a:normAutofit/>
          </a:bodyPr>
          <a:lstStyle>
            <a:defPPr algn="l">
              <a:defRPr sz="1050" b="1" i="0">
                <a:solidFill>
                  <a:srgbClr val="147D82"/>
                </a:solidFill>
                <a:latin typeface="Arial"/>
                <a:ea typeface="Arial"/>
                <a:cs typeface="Arial"/>
              </a:defRPr>
            </a:defPPr>
          </a:lstStyle>
          <a:p>
            <a:pPr algn="l">
              <a:lnSpc>
                <a:spcPct val="100000"/>
              </a:lnSpc>
              <a:buNone/>
              <a:defRPr sz="1050" b="1" i="0">
                <a:solidFill>
                  <a:srgbClr val="147D82"/>
                </a:solidFill>
                <a:latin typeface="Arial"/>
                <a:ea typeface="Arial"/>
                <a:cs typeface="Arial"/>
              </a:defRPr>
            </a:pPr>
            <a:r>
              <a:rPr sz="1050" b="1" i="0">
                <a:solidFill>
                  <a:srgbClr val="147D82"/>
                </a:solidFill>
                <a:latin typeface="Arial"/>
                <a:ea typeface="Arial"/>
                <a:cs typeface="Arial"/>
              </a:rPr>
              <a:t>DATA SCOPE</a:t>
            </a:r>
          </a:p>
        </p:txBody>
      </p:sp>
      <p:sp>
        <p:nvSpPr>
          <p:cNvPr id="2" name="slide-title">
            <a:extLst>
              <a:ext uri="{FF2B5EF4-FFF2-40B4-BE49-F238E27FC236}">
                <a16:creationId xmlns:a16="http://schemas.microsoft.com/office/drawing/2014/main" id="{1648309A-B012-4F6F-83F2-15E732DA8D45}"/>
              </a:ext>
            </a:extLst>
          </p:cNvPr>
          <p:cNvSpPr>
            <a:spLocks noGrp="1"/>
          </p:cNvSpPr>
          <p:nvPr/>
        </p:nvSpPr>
        <p:spPr>
          <a:xfrm>
            <a:off x="685800" y="552450"/>
            <a:ext cx="10820400" cy="552450"/>
          </a:xfrm>
          <a:prstGeom prst="rect">
            <a:avLst/>
          </a:prstGeom>
          <a:noFill/>
          <a:ln w="0">
            <a:noFill/>
            <a:prstDash val="solid"/>
          </a:ln>
        </p:spPr>
        <p:txBody>
          <a:bodyPr wrap="square" lIns="0" tIns="0" rIns="0" bIns="0" anchor="t">
            <a:normAutofit/>
          </a:bodyPr>
          <a:lstStyle>
            <a:defPPr algn="l">
              <a:defRPr sz="3225" b="1" i="0">
                <a:solidFill>
                  <a:srgbClr val="12304A"/>
                </a:solidFill>
                <a:latin typeface="Arial"/>
                <a:ea typeface="Arial"/>
                <a:cs typeface="Arial"/>
              </a:defRPr>
            </a:defPPr>
          </a:lstStyle>
          <a:p>
            <a:pPr algn="l">
              <a:lnSpc>
                <a:spcPct val="100000"/>
              </a:lnSpc>
              <a:buNone/>
              <a:defRPr sz="3225" b="1" i="0">
                <a:solidFill>
                  <a:srgbClr val="12304A"/>
                </a:solidFill>
                <a:latin typeface="Arial"/>
                <a:ea typeface="Arial"/>
                <a:cs typeface="Arial"/>
              </a:defRPr>
            </a:pPr>
            <a:r>
              <a:rPr sz="3225" b="1" i="0">
                <a:solidFill>
                  <a:srgbClr val="12304A"/>
                </a:solidFill>
                <a:latin typeface="Arial"/>
                <a:ea typeface="Arial"/>
                <a:cs typeface="Arial"/>
              </a:rPr>
              <a:t>Source and historical coverage</a:t>
            </a:r>
          </a:p>
        </p:txBody>
      </p:sp>
      <p:sp>
        <p:nvSpPr>
          <p:cNvPr id="3" name="footer">
            <a:extLst>
              <a:ext uri="{FF2B5EF4-FFF2-40B4-BE49-F238E27FC236}">
                <a16:creationId xmlns:a16="http://schemas.microsoft.com/office/drawing/2014/main" id="{FA7D1045-A29E-44B2-9C3E-FB7F532F85DC}"/>
              </a:ext>
            </a:extLst>
          </p:cNvPr>
          <p:cNvSpPr>
            <a:spLocks noGrp="1"/>
          </p:cNvSpPr>
          <p:nvPr/>
        </p:nvSpPr>
        <p:spPr>
          <a:xfrm>
            <a:off x="685800" y="6477000"/>
            <a:ext cx="8572500" cy="209550"/>
          </a:xfrm>
          <a:prstGeom prst="rect">
            <a:avLst/>
          </a:prstGeom>
          <a:noFill/>
          <a:ln w="0">
            <a:noFill/>
            <a:prstDash val="solid"/>
          </a:ln>
        </p:spPr>
        <p:txBody>
          <a:bodyPr wrap="square" lIns="0" tIns="0" rIns="0" bIns="0" anchor="t">
            <a:normAutofit/>
          </a:bodyPr>
          <a:lstStyle>
            <a:defPPr algn="l">
              <a:defRPr sz="1050" b="0" i="0">
                <a:solidFill>
                  <a:srgbClr val="586B78"/>
                </a:solidFill>
                <a:latin typeface="Arial"/>
                <a:ea typeface="Arial"/>
                <a:cs typeface="Arial"/>
              </a:defRPr>
            </a:defPPr>
          </a:lstStyle>
          <a:p>
            <a:pPr algn="l">
              <a:lnSpc>
                <a:spcPct val="100000"/>
              </a:lnSpc>
              <a:buNone/>
              <a:defRPr sz="1050" b="0" i="0">
                <a:solidFill>
                  <a:srgbClr val="586B78"/>
                </a:solidFill>
                <a:latin typeface="Arial"/>
                <a:ea typeface="Arial"/>
                <a:cs typeface="Arial"/>
              </a:defRPr>
            </a:pPr>
            <a:r>
              <a:rPr sz="1050" b="0" i="0">
                <a:solidFill>
                  <a:srgbClr val="586B78"/>
                </a:solidFill>
                <a:latin typeface="Arial"/>
                <a:ea typeface="Arial"/>
                <a:cs typeface="Arial"/>
              </a:rPr>
              <a:t>Historical Olist records | 4 Sep 2016–17 Oct 2018</a:t>
            </a:r>
          </a:p>
        </p:txBody>
      </p:sp>
      <p:sp>
        <p:nvSpPr>
          <p:cNvPr id="4" name="scope-copy">
            <a:extLst>
              <a:ext uri="{FF2B5EF4-FFF2-40B4-BE49-F238E27FC236}">
                <a16:creationId xmlns:a16="http://schemas.microsoft.com/office/drawing/2014/main" id="{382B4165-1BC8-42D0-9579-84FC9F7E230E}"/>
              </a:ext>
            </a:extLst>
          </p:cNvPr>
          <p:cNvSpPr>
            <a:spLocks noGrp="1"/>
          </p:cNvSpPr>
          <p:nvPr/>
        </p:nvSpPr>
        <p:spPr>
          <a:xfrm>
            <a:off x="723900" y="1381125"/>
            <a:ext cx="10668000" cy="952500"/>
          </a:xfrm>
          <a:prstGeom prst="rect">
            <a:avLst/>
          </a:prstGeom>
          <a:noFill/>
          <a:ln w="0">
            <a:noFill/>
            <a:prstDash val="solid"/>
          </a:ln>
        </p:spPr>
        <p:txBody>
          <a:bodyPr wrap="square" lIns="0" tIns="0" rIns="0" bIns="0" anchor="t">
            <a:normAutofit/>
          </a:bodyPr>
          <a:lstStyle>
            <a:defPPr algn="l">
              <a:defRPr sz="1725" b="0" i="0">
                <a:solidFill>
                  <a:srgbClr val="22313D"/>
                </a:solidFill>
                <a:latin typeface="Arial"/>
                <a:ea typeface="Arial"/>
                <a:cs typeface="Arial"/>
              </a:defRPr>
            </a:defPPr>
          </a:lstStyle>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The Kaggle dataset contains nine related CSV files. Orders were purchased from 4 Sep 2016 through 17 Oct 2018. The first and last calendar years are partial, so yearly totals are not directly comparable without adjusting for coverage.</a:t>
            </a:r>
          </a:p>
        </p:txBody>
      </p:sp>
      <p:sp>
        <p:nvSpPr>
          <p:cNvPr id="5" name="scope-left">
            <a:extLst>
              <a:ext uri="{FF2B5EF4-FFF2-40B4-BE49-F238E27FC236}">
                <a16:creationId xmlns:a16="http://schemas.microsoft.com/office/drawing/2014/main" id="{C4BF326D-24AA-4847-8077-24CEF4B87DC3}"/>
              </a:ext>
            </a:extLst>
          </p:cNvPr>
          <p:cNvSpPr>
            <a:spLocks noGrp="1"/>
          </p:cNvSpPr>
          <p:nvPr/>
        </p:nvSpPr>
        <p:spPr>
          <a:xfrm>
            <a:off x="876300" y="2857500"/>
            <a:ext cx="4762500" cy="2190750"/>
          </a:xfrm>
          <a:prstGeom prst="rect">
            <a:avLst/>
          </a:prstGeom>
          <a:noFill/>
          <a:ln w="0">
            <a:noFill/>
            <a:prstDash val="solid"/>
          </a:ln>
        </p:spPr>
        <p:txBody>
          <a:bodyPr wrap="square" lIns="0" tIns="0" rIns="0" bIns="0" anchor="t">
            <a:normAutofit/>
          </a:bodyPr>
          <a:lstStyle>
            <a:defPPr algn="l">
              <a:defRPr sz="1800" b="0" i="0">
                <a:solidFill>
                  <a:srgbClr val="22313D"/>
                </a:solidFill>
                <a:latin typeface="Arial"/>
                <a:ea typeface="Arial"/>
                <a:cs typeface="Arial"/>
              </a:defRPr>
            </a:defPPr>
          </a:lstStyle>
          <a:p>
            <a:pPr algn="l">
              <a:lnSpc>
                <a:spcPct val="125000"/>
              </a:lnSpc>
              <a:buNone/>
              <a:defRPr sz="1800" b="0" i="0">
                <a:solidFill>
                  <a:srgbClr val="22313D"/>
                </a:solidFill>
                <a:latin typeface="Arial"/>
                <a:ea typeface="Arial"/>
                <a:cs typeface="Arial"/>
              </a:defRPr>
            </a:pPr>
            <a:r>
              <a:rPr sz="1800" b="0" i="0">
                <a:solidFill>
                  <a:srgbClr val="22313D"/>
                </a:solidFill>
                <a:latin typeface="Arial"/>
                <a:ea typeface="Arial"/>
                <a:cs typeface="Arial"/>
              </a:rPr>
              <a:t>CORE FACT TABLES</a:t>
            </a:r>
          </a:p>
          <a:p>
            <a:pPr algn="l">
              <a:lnSpc>
                <a:spcPct val="125000"/>
              </a:lnSpc>
              <a:buNone/>
              <a:defRPr sz="1800" b="0" i="0">
                <a:solidFill>
                  <a:srgbClr val="22313D"/>
                </a:solidFill>
                <a:latin typeface="Arial"/>
                <a:ea typeface="Arial"/>
                <a:cs typeface="Arial"/>
              </a:defRPr>
            </a:pPr>
            <a:r>
              <a:rPr sz="1800" b="0" i="0">
                <a:solidFill>
                  <a:srgbClr val="22313D"/>
                </a:solidFill>
                <a:latin typeface="Arial"/>
                <a:ea typeface="Arial"/>
                <a:cs typeface="Arial"/>
              </a:rPr>
              <a:t>Orders  99,441 rows</a:t>
            </a:r>
          </a:p>
          <a:p>
            <a:pPr algn="l">
              <a:lnSpc>
                <a:spcPct val="125000"/>
              </a:lnSpc>
              <a:buNone/>
              <a:defRPr sz="1800" b="0" i="0">
                <a:solidFill>
                  <a:srgbClr val="22313D"/>
                </a:solidFill>
                <a:latin typeface="Arial"/>
                <a:ea typeface="Arial"/>
                <a:cs typeface="Arial"/>
              </a:defRPr>
            </a:pPr>
            <a:r>
              <a:rPr sz="1800" b="0" i="0">
                <a:solidFill>
                  <a:srgbClr val="22313D"/>
                </a:solidFill>
                <a:latin typeface="Arial"/>
                <a:ea typeface="Arial"/>
                <a:cs typeface="Arial"/>
              </a:rPr>
              <a:t>Order items  112,650 rows</a:t>
            </a:r>
          </a:p>
          <a:p>
            <a:pPr algn="l">
              <a:lnSpc>
                <a:spcPct val="125000"/>
              </a:lnSpc>
              <a:buNone/>
              <a:defRPr sz="1800" b="0" i="0">
                <a:solidFill>
                  <a:srgbClr val="22313D"/>
                </a:solidFill>
                <a:latin typeface="Arial"/>
                <a:ea typeface="Arial"/>
                <a:cs typeface="Arial"/>
              </a:defRPr>
            </a:pPr>
            <a:r>
              <a:rPr sz="1800" b="0" i="0">
                <a:solidFill>
                  <a:srgbClr val="22313D"/>
                </a:solidFill>
                <a:latin typeface="Arial"/>
                <a:ea typeface="Arial"/>
                <a:cs typeface="Arial"/>
              </a:rPr>
              <a:t>Payments  103,886 rows</a:t>
            </a:r>
          </a:p>
          <a:p>
            <a:pPr algn="l">
              <a:lnSpc>
                <a:spcPct val="125000"/>
              </a:lnSpc>
              <a:buNone/>
              <a:defRPr sz="1800" b="0" i="0">
                <a:solidFill>
                  <a:srgbClr val="22313D"/>
                </a:solidFill>
                <a:latin typeface="Arial"/>
                <a:ea typeface="Arial"/>
                <a:cs typeface="Arial"/>
              </a:defRPr>
            </a:pPr>
            <a:r>
              <a:rPr sz="1800" b="0" i="0">
                <a:solidFill>
                  <a:srgbClr val="22313D"/>
                </a:solidFill>
                <a:latin typeface="Arial"/>
                <a:ea typeface="Arial"/>
                <a:cs typeface="Arial"/>
              </a:rPr>
              <a:t>Reviews  99,224 rows</a:t>
            </a:r>
          </a:p>
        </p:txBody>
      </p:sp>
      <p:sp>
        <p:nvSpPr>
          <p:cNvPr id="6" name="scope-right">
            <a:extLst>
              <a:ext uri="{FF2B5EF4-FFF2-40B4-BE49-F238E27FC236}">
                <a16:creationId xmlns:a16="http://schemas.microsoft.com/office/drawing/2014/main" id="{7A27CC32-FBEB-4C81-833E-D36D0522FCC8}"/>
              </a:ext>
            </a:extLst>
          </p:cNvPr>
          <p:cNvSpPr>
            <a:spLocks noGrp="1"/>
          </p:cNvSpPr>
          <p:nvPr/>
        </p:nvSpPr>
        <p:spPr>
          <a:xfrm>
            <a:off x="6191250" y="2857500"/>
            <a:ext cx="5143500" cy="2476500"/>
          </a:xfrm>
          <a:prstGeom prst="rect">
            <a:avLst/>
          </a:prstGeom>
          <a:noFill/>
          <a:ln w="0">
            <a:noFill/>
            <a:prstDash val="solid"/>
          </a:ln>
        </p:spPr>
        <p:txBody>
          <a:bodyPr wrap="square" lIns="0" tIns="0" rIns="0" bIns="0" anchor="t">
            <a:normAutofit/>
          </a:bodyPr>
          <a:lstStyle>
            <a:defPPr algn="l">
              <a:defRPr sz="1800" b="0" i="0">
                <a:solidFill>
                  <a:srgbClr val="22313D"/>
                </a:solidFill>
                <a:latin typeface="Arial"/>
                <a:ea typeface="Arial"/>
                <a:cs typeface="Arial"/>
              </a:defRPr>
            </a:defPPr>
          </a:lstStyle>
          <a:p>
            <a:pPr algn="l">
              <a:lnSpc>
                <a:spcPct val="125000"/>
              </a:lnSpc>
              <a:buNone/>
              <a:defRPr sz="1800" b="0" i="0">
                <a:solidFill>
                  <a:srgbClr val="22313D"/>
                </a:solidFill>
                <a:latin typeface="Arial"/>
                <a:ea typeface="Arial"/>
                <a:cs typeface="Arial"/>
              </a:defRPr>
            </a:pPr>
            <a:r>
              <a:rPr sz="1800" b="0" i="0">
                <a:solidFill>
                  <a:srgbClr val="22313D"/>
                </a:solidFill>
                <a:latin typeface="Arial"/>
                <a:ea typeface="Arial"/>
                <a:cs typeface="Arial"/>
              </a:rPr>
              <a:t>LOOKUP AND SUPPORT TABLES</a:t>
            </a:r>
          </a:p>
          <a:p>
            <a:pPr algn="l">
              <a:lnSpc>
                <a:spcPct val="125000"/>
              </a:lnSpc>
              <a:buNone/>
              <a:defRPr sz="1800" b="0" i="0">
                <a:solidFill>
                  <a:srgbClr val="22313D"/>
                </a:solidFill>
                <a:latin typeface="Arial"/>
                <a:ea typeface="Arial"/>
                <a:cs typeface="Arial"/>
              </a:defRPr>
            </a:pPr>
            <a:r>
              <a:rPr sz="1800" b="0" i="0">
                <a:solidFill>
                  <a:srgbClr val="22313D"/>
                </a:solidFill>
                <a:latin typeface="Arial"/>
                <a:ea typeface="Arial"/>
                <a:cs typeface="Arial"/>
              </a:rPr>
              <a:t>Customers  99,441 rows</a:t>
            </a:r>
          </a:p>
          <a:p>
            <a:pPr algn="l">
              <a:lnSpc>
                <a:spcPct val="125000"/>
              </a:lnSpc>
              <a:buNone/>
              <a:defRPr sz="1800" b="0" i="0">
                <a:solidFill>
                  <a:srgbClr val="22313D"/>
                </a:solidFill>
                <a:latin typeface="Arial"/>
                <a:ea typeface="Arial"/>
                <a:cs typeface="Arial"/>
              </a:defRPr>
            </a:pPr>
            <a:r>
              <a:rPr sz="1800" b="0" i="0">
                <a:solidFill>
                  <a:srgbClr val="22313D"/>
                </a:solidFill>
                <a:latin typeface="Arial"/>
                <a:ea typeface="Arial"/>
                <a:cs typeface="Arial"/>
              </a:rPr>
              <a:t>Products  32,951 rows</a:t>
            </a:r>
          </a:p>
          <a:p>
            <a:pPr algn="l">
              <a:lnSpc>
                <a:spcPct val="125000"/>
              </a:lnSpc>
              <a:buNone/>
              <a:defRPr sz="1800" b="0" i="0">
                <a:solidFill>
                  <a:srgbClr val="22313D"/>
                </a:solidFill>
                <a:latin typeface="Arial"/>
                <a:ea typeface="Arial"/>
                <a:cs typeface="Arial"/>
              </a:defRPr>
            </a:pPr>
            <a:r>
              <a:rPr sz="1800" b="0" i="0">
                <a:solidFill>
                  <a:srgbClr val="22313D"/>
                </a:solidFill>
                <a:latin typeface="Arial"/>
                <a:ea typeface="Arial"/>
                <a:cs typeface="Arial"/>
              </a:rPr>
              <a:t>Sellers  3,095 rows</a:t>
            </a:r>
          </a:p>
          <a:p>
            <a:pPr algn="l">
              <a:lnSpc>
                <a:spcPct val="125000"/>
              </a:lnSpc>
              <a:buNone/>
              <a:defRPr sz="1800" b="0" i="0">
                <a:solidFill>
                  <a:srgbClr val="22313D"/>
                </a:solidFill>
                <a:latin typeface="Arial"/>
                <a:ea typeface="Arial"/>
                <a:cs typeface="Arial"/>
              </a:defRPr>
            </a:pPr>
            <a:r>
              <a:rPr sz="1800" b="0" i="0">
                <a:solidFill>
                  <a:srgbClr val="22313D"/>
                </a:solidFill>
                <a:latin typeface="Arial"/>
                <a:ea typeface="Arial"/>
                <a:cs typeface="Arial"/>
              </a:rPr>
              <a:t>Category translation  71 rows</a:t>
            </a:r>
          </a:p>
          <a:p>
            <a:pPr algn="l">
              <a:lnSpc>
                <a:spcPct val="125000"/>
              </a:lnSpc>
              <a:buNone/>
              <a:defRPr sz="1800" b="0" i="0">
                <a:solidFill>
                  <a:srgbClr val="22313D"/>
                </a:solidFill>
                <a:latin typeface="Arial"/>
                <a:ea typeface="Arial"/>
                <a:cs typeface="Arial"/>
              </a:defRPr>
            </a:pPr>
            <a:r>
              <a:rPr sz="1800" b="0" i="0">
                <a:solidFill>
                  <a:srgbClr val="22313D"/>
                </a:solidFill>
                <a:latin typeface="Arial"/>
                <a:ea typeface="Arial"/>
                <a:cs typeface="Arial"/>
              </a:rPr>
              <a:t>Geolocation  1,000,163 rows</a:t>
            </a:r>
          </a:p>
        </p:txBody>
      </p:sp>
      <p:sp>
        <p:nvSpPr>
          <p:cNvPr id="7" name="scope-source-link">
            <a:extLst>
              <a:ext uri="{FF2B5EF4-FFF2-40B4-BE49-F238E27FC236}">
                <a16:creationId xmlns:a16="http://schemas.microsoft.com/office/drawing/2014/main" id="{5E9A868F-9107-47D8-BF7E-94F14AE47C1D}"/>
              </a:ext>
            </a:extLst>
          </p:cNvPr>
          <p:cNvSpPr>
            <a:spLocks noGrp="1"/>
          </p:cNvSpPr>
          <p:nvPr/>
        </p:nvSpPr>
        <p:spPr>
          <a:xfrm>
            <a:off x="876300" y="5619750"/>
            <a:ext cx="10477500" cy="304800"/>
          </a:xfrm>
          <a:prstGeom prst="rect">
            <a:avLst/>
          </a:prstGeom>
          <a:noFill/>
          <a:ln w="0">
            <a:noFill/>
            <a:prstDash val="solid"/>
          </a:ln>
        </p:spPr>
        <p:txBody>
          <a:bodyPr wrap="square" lIns="0" tIns="0" rIns="0" bIns="0" anchor="t">
            <a:normAutofit/>
          </a:bodyPr>
          <a:lstStyle>
            <a:defPPr algn="l">
              <a:defRPr sz="1350" b="1" i="0">
                <a:solidFill>
                  <a:srgbClr val="147D82"/>
                </a:solidFill>
                <a:latin typeface="Arial"/>
                <a:ea typeface="Arial"/>
                <a:cs typeface="Arial"/>
              </a:defRPr>
            </a:defPPr>
          </a:lstStyle>
          <a:p>
            <a:pPr algn="l">
              <a:lnSpc>
                <a:spcPct val="100000"/>
              </a:lnSpc>
              <a:buNone/>
              <a:defRPr sz="1350" b="1" i="0">
                <a:solidFill>
                  <a:srgbClr val="147D82"/>
                </a:solidFill>
                <a:latin typeface="Arial"/>
                <a:ea typeface="Arial"/>
                <a:cs typeface="Arial"/>
              </a:defRPr>
            </a:pPr>
            <a:r>
              <a:rPr sz="1350" b="1" i="0">
                <a:solidFill>
                  <a:srgbClr val="147D82"/>
                </a:solidFill>
                <a:latin typeface="Arial"/>
                <a:ea typeface="Arial"/>
                <a:cs typeface="Arial"/>
              </a:rPr>
              <a:t>Source: Olist Brazilian E-Commerce Public Dataset on Kaggle</a:t>
            </a:r>
          </a:p>
        </p:txBody>
      </p:sp>
    </p:spTree>
    <p:extLst>
      <p:ext uri="{BB962C8B-B14F-4D97-AF65-F5344CB8AC3E}">
        <p14:creationId xmlns:p14="http://schemas.microsoft.com/office/powerpoint/2010/main" val="20742440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ction-label">
            <a:extLst>
              <a:ext uri="{FF2B5EF4-FFF2-40B4-BE49-F238E27FC236}">
                <a16:creationId xmlns:a16="http://schemas.microsoft.com/office/drawing/2014/main" id="{7F462A8E-380A-41C9-90EE-488791C43D39}"/>
              </a:ext>
            </a:extLst>
          </p:cNvPr>
          <p:cNvSpPr>
            <a:spLocks noGrp="1"/>
          </p:cNvSpPr>
          <p:nvPr/>
        </p:nvSpPr>
        <p:spPr>
          <a:xfrm>
            <a:off x="685800" y="257175"/>
            <a:ext cx="8572500" cy="209550"/>
          </a:xfrm>
          <a:prstGeom prst="rect">
            <a:avLst/>
          </a:prstGeom>
          <a:noFill/>
          <a:ln w="0">
            <a:noFill/>
            <a:prstDash val="solid"/>
          </a:ln>
        </p:spPr>
        <p:txBody>
          <a:bodyPr wrap="square" lIns="0" tIns="0" rIns="0" bIns="0" anchor="t">
            <a:normAutofit/>
          </a:bodyPr>
          <a:lstStyle>
            <a:defPPr algn="l">
              <a:defRPr sz="1050" b="1" i="0">
                <a:solidFill>
                  <a:srgbClr val="147D82"/>
                </a:solidFill>
                <a:latin typeface="Arial"/>
                <a:ea typeface="Arial"/>
                <a:cs typeface="Arial"/>
              </a:defRPr>
            </a:defPPr>
          </a:lstStyle>
          <a:p>
            <a:pPr algn="l">
              <a:lnSpc>
                <a:spcPct val="100000"/>
              </a:lnSpc>
              <a:buNone/>
              <a:defRPr sz="1050" b="1" i="0">
                <a:solidFill>
                  <a:srgbClr val="147D82"/>
                </a:solidFill>
                <a:latin typeface="Arial"/>
                <a:ea typeface="Arial"/>
                <a:cs typeface="Arial"/>
              </a:defRPr>
            </a:pPr>
            <a:r>
              <a:rPr sz="1050" b="1" i="0">
                <a:solidFill>
                  <a:srgbClr val="147D82"/>
                </a:solidFill>
                <a:latin typeface="Arial"/>
                <a:ea typeface="Arial"/>
                <a:cs typeface="Arial"/>
              </a:rPr>
              <a:t>DATA MODEL</a:t>
            </a:r>
          </a:p>
        </p:txBody>
      </p:sp>
      <p:sp>
        <p:nvSpPr>
          <p:cNvPr id="2" name="slide-title">
            <a:extLst>
              <a:ext uri="{FF2B5EF4-FFF2-40B4-BE49-F238E27FC236}">
                <a16:creationId xmlns:a16="http://schemas.microsoft.com/office/drawing/2014/main" id="{31A6A4D0-0A18-43A2-8DEC-BE30915181CC}"/>
              </a:ext>
            </a:extLst>
          </p:cNvPr>
          <p:cNvSpPr>
            <a:spLocks noGrp="1"/>
          </p:cNvSpPr>
          <p:nvPr/>
        </p:nvSpPr>
        <p:spPr>
          <a:xfrm>
            <a:off x="685800" y="552450"/>
            <a:ext cx="10820400" cy="552450"/>
          </a:xfrm>
          <a:prstGeom prst="rect">
            <a:avLst/>
          </a:prstGeom>
          <a:noFill/>
          <a:ln w="0">
            <a:noFill/>
            <a:prstDash val="solid"/>
          </a:ln>
        </p:spPr>
        <p:txBody>
          <a:bodyPr wrap="square" lIns="0" tIns="0" rIns="0" bIns="0" anchor="t">
            <a:normAutofit/>
          </a:bodyPr>
          <a:lstStyle>
            <a:defPPr algn="l">
              <a:defRPr sz="3225" b="1" i="0">
                <a:solidFill>
                  <a:srgbClr val="12304A"/>
                </a:solidFill>
                <a:latin typeface="Arial"/>
                <a:ea typeface="Arial"/>
                <a:cs typeface="Arial"/>
              </a:defRPr>
            </a:defPPr>
          </a:lstStyle>
          <a:p>
            <a:pPr algn="l">
              <a:lnSpc>
                <a:spcPct val="100000"/>
              </a:lnSpc>
              <a:buNone/>
              <a:defRPr sz="3225" b="1" i="0">
                <a:solidFill>
                  <a:srgbClr val="12304A"/>
                </a:solidFill>
                <a:latin typeface="Arial"/>
                <a:ea typeface="Arial"/>
                <a:cs typeface="Arial"/>
              </a:defRPr>
            </a:pPr>
            <a:r>
              <a:rPr sz="3225" b="1" i="0">
                <a:solidFill>
                  <a:srgbClr val="12304A"/>
                </a:solidFill>
                <a:latin typeface="Arial"/>
                <a:ea typeface="Arial"/>
                <a:cs typeface="Arial"/>
              </a:rPr>
              <a:t>Model the tables at their natural grain</a:t>
            </a:r>
          </a:p>
        </p:txBody>
      </p:sp>
      <p:sp>
        <p:nvSpPr>
          <p:cNvPr id="3" name="footer">
            <a:extLst>
              <a:ext uri="{FF2B5EF4-FFF2-40B4-BE49-F238E27FC236}">
                <a16:creationId xmlns:a16="http://schemas.microsoft.com/office/drawing/2014/main" id="{BB444929-7CA1-4989-88BD-314E85998A0C}"/>
              </a:ext>
            </a:extLst>
          </p:cNvPr>
          <p:cNvSpPr>
            <a:spLocks noGrp="1"/>
          </p:cNvSpPr>
          <p:nvPr/>
        </p:nvSpPr>
        <p:spPr>
          <a:xfrm>
            <a:off x="685800" y="6477000"/>
            <a:ext cx="8572500" cy="209550"/>
          </a:xfrm>
          <a:prstGeom prst="rect">
            <a:avLst/>
          </a:prstGeom>
          <a:noFill/>
          <a:ln w="0">
            <a:noFill/>
            <a:prstDash val="solid"/>
          </a:ln>
        </p:spPr>
        <p:txBody>
          <a:bodyPr wrap="square" lIns="0" tIns="0" rIns="0" bIns="0" anchor="t">
            <a:normAutofit/>
          </a:bodyPr>
          <a:lstStyle>
            <a:defPPr algn="l">
              <a:defRPr sz="1050" b="0" i="0">
                <a:solidFill>
                  <a:srgbClr val="586B78"/>
                </a:solidFill>
                <a:latin typeface="Arial"/>
                <a:ea typeface="Arial"/>
                <a:cs typeface="Arial"/>
              </a:defRPr>
            </a:defPPr>
          </a:lstStyle>
          <a:p>
            <a:pPr algn="l">
              <a:lnSpc>
                <a:spcPct val="100000"/>
              </a:lnSpc>
              <a:buNone/>
              <a:defRPr sz="1050" b="0" i="0">
                <a:solidFill>
                  <a:srgbClr val="586B78"/>
                </a:solidFill>
                <a:latin typeface="Arial"/>
                <a:ea typeface="Arial"/>
                <a:cs typeface="Arial"/>
              </a:defRPr>
            </a:pPr>
            <a:r>
              <a:rPr sz="1050" b="0" i="0">
                <a:solidFill>
                  <a:srgbClr val="586B78"/>
                </a:solidFill>
                <a:latin typeface="Arial"/>
                <a:ea typeface="Arial"/>
                <a:cs typeface="Arial"/>
              </a:rPr>
              <a:t>Historical Olist records | 4 Sep 2016–17 Oct 2018</a:t>
            </a:r>
          </a:p>
        </p:txBody>
      </p:sp>
      <p:sp>
        <p:nvSpPr>
          <p:cNvPr id="4" name="model-intro">
            <a:extLst>
              <a:ext uri="{FF2B5EF4-FFF2-40B4-BE49-F238E27FC236}">
                <a16:creationId xmlns:a16="http://schemas.microsoft.com/office/drawing/2014/main" id="{B4721D36-A725-43B1-8C0B-1B88D1423D99}"/>
              </a:ext>
            </a:extLst>
          </p:cNvPr>
          <p:cNvSpPr>
            <a:spLocks noGrp="1"/>
          </p:cNvSpPr>
          <p:nvPr/>
        </p:nvSpPr>
        <p:spPr>
          <a:xfrm>
            <a:off x="704850" y="1333500"/>
            <a:ext cx="10668000" cy="619125"/>
          </a:xfrm>
          <a:prstGeom prst="rect">
            <a:avLst/>
          </a:prstGeom>
          <a:noFill/>
          <a:ln w="0">
            <a:noFill/>
            <a:prstDash val="solid"/>
          </a:ln>
        </p:spPr>
        <p:txBody>
          <a:bodyPr wrap="square" lIns="0" tIns="0" rIns="0" bIns="0" anchor="t">
            <a:normAutofit/>
          </a:bodyPr>
          <a:lstStyle>
            <a:defPPr algn="l">
              <a:defRPr sz="1875" b="1" i="0">
                <a:solidFill>
                  <a:srgbClr val="22313D"/>
                </a:solidFill>
                <a:latin typeface="Arial"/>
                <a:ea typeface="Arial"/>
                <a:cs typeface="Arial"/>
              </a:defRPr>
            </a:defPPr>
          </a:lstStyle>
          <a:p>
            <a:pPr algn="l">
              <a:lnSpc>
                <a:spcPct val="100000"/>
              </a:lnSpc>
              <a:buNone/>
              <a:defRPr sz="1875" b="1" i="0">
                <a:solidFill>
                  <a:srgbClr val="22313D"/>
                </a:solidFill>
                <a:latin typeface="Arial"/>
                <a:ea typeface="Arial"/>
                <a:cs typeface="Arial"/>
              </a:defRPr>
            </a:pPr>
            <a:r>
              <a:rPr sz="1875" b="1" i="0">
                <a:solidFill>
                  <a:srgbClr val="22313D"/>
                </a:solidFill>
                <a:latin typeface="Arial"/>
                <a:ea typeface="Arial"/>
                <a:cs typeface="Arial"/>
              </a:rPr>
              <a:t>The main modeling decision was to keep one-to-many tables separate so item price and order counts were not multiplied by joins.</a:t>
            </a:r>
          </a:p>
        </p:txBody>
      </p:sp>
      <p:sp>
        <p:nvSpPr>
          <p:cNvPr id="5" name="model-orders">
            <a:extLst>
              <a:ext uri="{FF2B5EF4-FFF2-40B4-BE49-F238E27FC236}">
                <a16:creationId xmlns:a16="http://schemas.microsoft.com/office/drawing/2014/main" id="{3735A74A-4F5E-4CFC-A6E8-C166165B2DC1}"/>
              </a:ext>
            </a:extLst>
          </p:cNvPr>
          <p:cNvSpPr>
            <a:spLocks noGrp="1"/>
          </p:cNvSpPr>
          <p:nvPr/>
        </p:nvSpPr>
        <p:spPr>
          <a:xfrm>
            <a:off x="800100" y="2438400"/>
            <a:ext cx="2428875" cy="1285875"/>
          </a:xfrm>
          <a:prstGeom prst="rect">
            <a:avLst/>
          </a:prstGeom>
          <a:noFill/>
          <a:ln w="0">
            <a:noFill/>
            <a:prstDash val="solid"/>
          </a:ln>
        </p:spPr>
        <p:txBody>
          <a:bodyPr wrap="square" lIns="0" tIns="0" rIns="0" bIns="0" anchor="t">
            <a:normAutofit/>
          </a:bodyPr>
          <a:lstStyle>
            <a:defPPr algn="l">
              <a:defRPr sz="1875" b="1" i="0">
                <a:solidFill>
                  <a:srgbClr val="12304A"/>
                </a:solidFill>
                <a:latin typeface="Arial"/>
                <a:ea typeface="Arial"/>
                <a:cs typeface="Arial"/>
              </a:defRPr>
            </a:defPPr>
          </a:lstStyle>
          <a:p>
            <a:pPr algn="l">
              <a:lnSpc>
                <a:spcPct val="100000"/>
              </a:lnSpc>
              <a:buNone/>
              <a:defRPr sz="1875" b="1" i="0">
                <a:solidFill>
                  <a:srgbClr val="12304A"/>
                </a:solidFill>
                <a:latin typeface="Arial"/>
                <a:ea typeface="Arial"/>
                <a:cs typeface="Arial"/>
              </a:defRPr>
            </a:pPr>
            <a:r>
              <a:rPr sz="1875" b="1" i="0">
                <a:solidFill>
                  <a:srgbClr val="12304A"/>
                </a:solidFill>
                <a:latin typeface="Arial"/>
                <a:ea typeface="Arial"/>
                <a:cs typeface="Arial"/>
              </a:rPr>
              <a:t>ORDERS</a:t>
            </a:r>
          </a:p>
          <a:p>
            <a:pPr algn="l">
              <a:lnSpc>
                <a:spcPct val="100000"/>
              </a:lnSpc>
              <a:buNone/>
              <a:defRPr sz="1875" b="1" i="0">
                <a:solidFill>
                  <a:srgbClr val="12304A"/>
                </a:solidFill>
                <a:latin typeface="Arial"/>
                <a:ea typeface="Arial"/>
                <a:cs typeface="Arial"/>
              </a:defRPr>
            </a:pPr>
            <a:r>
              <a:rPr sz="1875" b="1" i="0">
                <a:solidFill>
                  <a:srgbClr val="12304A"/>
                </a:solidFill>
                <a:latin typeface="Arial"/>
                <a:ea typeface="Arial"/>
                <a:cs typeface="Arial"/>
              </a:rPr>
              <a:t>one row per order</a:t>
            </a:r>
          </a:p>
          <a:p>
            <a:pPr algn="l">
              <a:lnSpc>
                <a:spcPct val="100000"/>
              </a:lnSpc>
              <a:buNone/>
              <a:defRPr sz="1875" b="1" i="0">
                <a:solidFill>
                  <a:srgbClr val="12304A"/>
                </a:solidFill>
                <a:latin typeface="Arial"/>
                <a:ea typeface="Arial"/>
                <a:cs typeface="Arial"/>
              </a:defRPr>
            </a:pPr>
            <a:r>
              <a:rPr sz="1875" b="1" i="0">
                <a:solidFill>
                  <a:srgbClr val="12304A"/>
                </a:solidFill>
                <a:latin typeface="Arial"/>
                <a:ea typeface="Arial"/>
                <a:cs typeface="Arial"/>
              </a:rPr>
              <a:t>order_id</a:t>
            </a:r>
          </a:p>
        </p:txBody>
      </p:sp>
      <p:sp>
        <p:nvSpPr>
          <p:cNvPr id="6" name="model-items">
            <a:extLst>
              <a:ext uri="{FF2B5EF4-FFF2-40B4-BE49-F238E27FC236}">
                <a16:creationId xmlns:a16="http://schemas.microsoft.com/office/drawing/2014/main" id="{206F7827-1725-4441-87F1-A1056A534AEE}"/>
              </a:ext>
            </a:extLst>
          </p:cNvPr>
          <p:cNvSpPr>
            <a:spLocks noGrp="1"/>
          </p:cNvSpPr>
          <p:nvPr/>
        </p:nvSpPr>
        <p:spPr>
          <a:xfrm>
            <a:off x="3762375" y="2438400"/>
            <a:ext cx="3143250" cy="1381125"/>
          </a:xfrm>
          <a:prstGeom prst="rect">
            <a:avLst/>
          </a:prstGeom>
          <a:noFill/>
          <a:ln w="0">
            <a:noFill/>
            <a:prstDash val="solid"/>
          </a:ln>
        </p:spPr>
        <p:txBody>
          <a:bodyPr wrap="square" lIns="0" tIns="0" rIns="0" bIns="0" anchor="t">
            <a:normAutofit/>
          </a:bodyPr>
          <a:lstStyle>
            <a:defPPr algn="l">
              <a:defRPr sz="1875" b="1" i="0">
                <a:solidFill>
                  <a:srgbClr val="147D82"/>
                </a:solidFill>
                <a:latin typeface="Arial"/>
                <a:ea typeface="Arial"/>
                <a:cs typeface="Arial"/>
              </a:defRPr>
            </a:defPPr>
          </a:lstStyle>
          <a:p>
            <a:pPr algn="l">
              <a:lnSpc>
                <a:spcPct val="100000"/>
              </a:lnSpc>
              <a:buNone/>
              <a:defRPr sz="1875" b="1" i="0">
                <a:solidFill>
                  <a:srgbClr val="147D82"/>
                </a:solidFill>
                <a:latin typeface="Arial"/>
                <a:ea typeface="Arial"/>
                <a:cs typeface="Arial"/>
              </a:defRPr>
            </a:pPr>
            <a:r>
              <a:rPr sz="1875" b="1" i="0">
                <a:solidFill>
                  <a:srgbClr val="147D82"/>
                </a:solidFill>
                <a:latin typeface="Arial"/>
                <a:ea typeface="Arial"/>
                <a:cs typeface="Arial"/>
              </a:rPr>
              <a:t>ORDER ITEMS</a:t>
            </a:r>
          </a:p>
          <a:p>
            <a:pPr algn="l">
              <a:lnSpc>
                <a:spcPct val="100000"/>
              </a:lnSpc>
              <a:buNone/>
              <a:defRPr sz="1875" b="1" i="0">
                <a:solidFill>
                  <a:srgbClr val="147D82"/>
                </a:solidFill>
                <a:latin typeface="Arial"/>
                <a:ea typeface="Arial"/>
                <a:cs typeface="Arial"/>
              </a:defRPr>
            </a:pPr>
            <a:r>
              <a:rPr sz="1875" b="1" i="0">
                <a:solidFill>
                  <a:srgbClr val="147D82"/>
                </a:solidFill>
                <a:latin typeface="Arial"/>
                <a:ea typeface="Arial"/>
                <a:cs typeface="Arial"/>
              </a:rPr>
              <a:t>one row per order line</a:t>
            </a:r>
          </a:p>
          <a:p>
            <a:pPr algn="l">
              <a:lnSpc>
                <a:spcPct val="100000"/>
              </a:lnSpc>
              <a:buNone/>
              <a:defRPr sz="1875" b="1" i="0">
                <a:solidFill>
                  <a:srgbClr val="147D82"/>
                </a:solidFill>
                <a:latin typeface="Arial"/>
                <a:ea typeface="Arial"/>
                <a:cs typeface="Arial"/>
              </a:defRPr>
            </a:pPr>
            <a:r>
              <a:rPr sz="1875" b="1" i="0">
                <a:solidFill>
                  <a:srgbClr val="147D82"/>
                </a:solidFill>
                <a:latin typeface="Arial"/>
                <a:ea typeface="Arial"/>
                <a:cs typeface="Arial"/>
              </a:rPr>
              <a:t>order_id + order_item_id</a:t>
            </a:r>
          </a:p>
        </p:txBody>
      </p:sp>
      <p:sp>
        <p:nvSpPr>
          <p:cNvPr id="7" name="model-lookups">
            <a:extLst>
              <a:ext uri="{FF2B5EF4-FFF2-40B4-BE49-F238E27FC236}">
                <a16:creationId xmlns:a16="http://schemas.microsoft.com/office/drawing/2014/main" id="{1B5414EF-13DA-4D33-85E0-0AB5E70BB43C}"/>
              </a:ext>
            </a:extLst>
          </p:cNvPr>
          <p:cNvSpPr>
            <a:spLocks noGrp="1"/>
          </p:cNvSpPr>
          <p:nvPr/>
        </p:nvSpPr>
        <p:spPr>
          <a:xfrm>
            <a:off x="7810500" y="2238375"/>
            <a:ext cx="3714750" cy="1809750"/>
          </a:xfrm>
          <a:prstGeom prst="rect">
            <a:avLst/>
          </a:prstGeom>
          <a:noFill/>
          <a:ln w="0">
            <a:noFill/>
            <a:prstDash val="solid"/>
          </a:ln>
        </p:spPr>
        <p:txBody>
          <a:bodyPr wrap="square" lIns="0" tIns="0" rIns="0" bIns="0" anchor="t">
            <a:normAutofit/>
          </a:bodyPr>
          <a:lstStyle>
            <a:defPPr algn="l">
              <a:defRPr sz="1725" b="0" i="0">
                <a:solidFill>
                  <a:srgbClr val="22313D"/>
                </a:solidFill>
                <a:latin typeface="Arial"/>
                <a:ea typeface="Arial"/>
                <a:cs typeface="Arial"/>
              </a:defRPr>
            </a:defPPr>
          </a:lstStyle>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LOOKUPS</a:t>
            </a:r>
          </a:p>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Products: product_id</a:t>
            </a:r>
          </a:p>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Sellers: seller_id</a:t>
            </a:r>
          </a:p>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Category translation: category name</a:t>
            </a:r>
          </a:p>
        </p:txBody>
      </p:sp>
      <p:sp>
        <p:nvSpPr>
          <p:cNvPr id="8" name="model-other-facts">
            <a:extLst>
              <a:ext uri="{FF2B5EF4-FFF2-40B4-BE49-F238E27FC236}">
                <a16:creationId xmlns:a16="http://schemas.microsoft.com/office/drawing/2014/main" id="{E13D0E52-C8B6-4E37-864E-CB3B45C8E34A}"/>
              </a:ext>
            </a:extLst>
          </p:cNvPr>
          <p:cNvSpPr>
            <a:spLocks noGrp="1"/>
          </p:cNvSpPr>
          <p:nvPr/>
        </p:nvSpPr>
        <p:spPr>
          <a:xfrm>
            <a:off x="800100" y="4333875"/>
            <a:ext cx="6000750" cy="1381125"/>
          </a:xfrm>
          <a:prstGeom prst="rect">
            <a:avLst/>
          </a:prstGeom>
          <a:noFill/>
          <a:ln w="0">
            <a:noFill/>
            <a:prstDash val="solid"/>
          </a:ln>
        </p:spPr>
        <p:txBody>
          <a:bodyPr wrap="square" lIns="0" tIns="0" rIns="0" bIns="0" anchor="t">
            <a:normAutofit/>
          </a:bodyPr>
          <a:lstStyle>
            <a:defPPr algn="l">
              <a:defRPr sz="1725" b="0" i="0">
                <a:solidFill>
                  <a:srgbClr val="22313D"/>
                </a:solidFill>
                <a:latin typeface="Arial"/>
                <a:ea typeface="Arial"/>
                <a:cs typeface="Arial"/>
              </a:defRPr>
            </a:defPPr>
          </a:lstStyle>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Separate order-linked facts</a:t>
            </a:r>
          </a:p>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Payments: order_id + payment_sequential</a:t>
            </a:r>
          </a:p>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Reviews: review_id</a:t>
            </a:r>
          </a:p>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Both can have more than one record per order.</a:t>
            </a:r>
          </a:p>
        </p:txBody>
      </p:sp>
      <p:sp>
        <p:nvSpPr>
          <p:cNvPr id="9" name="model-customer-key">
            <a:extLst>
              <a:ext uri="{FF2B5EF4-FFF2-40B4-BE49-F238E27FC236}">
                <a16:creationId xmlns:a16="http://schemas.microsoft.com/office/drawing/2014/main" id="{6BA5A1A2-38B7-4FF8-9487-91070F3E8F27}"/>
              </a:ext>
            </a:extLst>
          </p:cNvPr>
          <p:cNvSpPr>
            <a:spLocks noGrp="1"/>
          </p:cNvSpPr>
          <p:nvPr/>
        </p:nvSpPr>
        <p:spPr>
          <a:xfrm>
            <a:off x="7239000" y="4333875"/>
            <a:ext cx="4286250" cy="1428750"/>
          </a:xfrm>
          <a:prstGeom prst="rect">
            <a:avLst/>
          </a:prstGeom>
          <a:noFill/>
          <a:ln w="0">
            <a:noFill/>
            <a:prstDash val="solid"/>
          </a:ln>
        </p:spPr>
        <p:txBody>
          <a:bodyPr wrap="square" lIns="0" tIns="0" rIns="0" bIns="0" anchor="t">
            <a:normAutofit/>
          </a:bodyPr>
          <a:lstStyle>
            <a:defPPr algn="l">
              <a:defRPr sz="1575" b="0" i="0">
                <a:solidFill>
                  <a:srgbClr val="22313D"/>
                </a:solidFill>
                <a:latin typeface="Arial"/>
                <a:ea typeface="Arial"/>
                <a:cs typeface="Arial"/>
              </a:defRPr>
            </a:defPPr>
          </a:lstStyle>
          <a:p>
            <a:pPr algn="l">
              <a:lnSpc>
                <a:spcPct val="100000"/>
              </a:lnSpc>
              <a:buNone/>
              <a:defRPr sz="1575" b="0" i="0">
                <a:solidFill>
                  <a:srgbClr val="22313D"/>
                </a:solidFill>
                <a:latin typeface="Arial"/>
                <a:ea typeface="Arial"/>
                <a:cs typeface="Arial"/>
              </a:defRPr>
            </a:pPr>
            <a:r>
              <a:rPr sz="1575" b="0" i="0">
                <a:solidFill>
                  <a:srgbClr val="22313D"/>
                </a:solidFill>
                <a:latin typeface="Arial"/>
                <a:ea typeface="Arial"/>
                <a:cs typeface="Arial"/>
              </a:rPr>
              <a:t>Customer counting</a:t>
            </a:r>
          </a:p>
          <a:p>
            <a:pPr algn="l">
              <a:lnSpc>
                <a:spcPct val="100000"/>
              </a:lnSpc>
              <a:buNone/>
              <a:defRPr sz="1575" b="0" i="0">
                <a:solidFill>
                  <a:srgbClr val="22313D"/>
                </a:solidFill>
                <a:latin typeface="Arial"/>
                <a:ea typeface="Arial"/>
                <a:cs typeface="Arial"/>
              </a:defRPr>
            </a:pPr>
            <a:r>
              <a:rPr sz="1575" b="0" i="0">
                <a:solidFill>
                  <a:srgbClr val="22313D"/>
                </a:solidFill>
                <a:latin typeface="Arial"/>
                <a:ea typeface="Arial"/>
                <a:cs typeface="Arial"/>
              </a:rPr>
              <a:t>customer_id links a customer row to an order.</a:t>
            </a:r>
          </a:p>
          <a:p>
            <a:pPr algn="l">
              <a:lnSpc>
                <a:spcPct val="100000"/>
              </a:lnSpc>
              <a:buNone/>
              <a:defRPr sz="1575" b="0" i="0">
                <a:solidFill>
                  <a:srgbClr val="22313D"/>
                </a:solidFill>
                <a:latin typeface="Arial"/>
                <a:ea typeface="Arial"/>
                <a:cs typeface="Arial"/>
              </a:defRPr>
            </a:pPr>
            <a:r>
              <a:rPr sz="1575" b="0" i="0">
                <a:solidFill>
                  <a:srgbClr val="22313D"/>
                </a:solidFill>
                <a:latin typeface="Arial"/>
                <a:ea typeface="Arial"/>
                <a:cs typeface="Arial"/>
              </a:rPr>
              <a:t>customer_unique_id identifies a customer across orders and is used for repeat analysis.</a:t>
            </a:r>
          </a:p>
        </p:txBody>
      </p:sp>
    </p:spTree>
    <p:extLst>
      <p:ext uri="{BB962C8B-B14F-4D97-AF65-F5344CB8AC3E}">
        <p14:creationId xmlns:p14="http://schemas.microsoft.com/office/powerpoint/2010/main" val="842702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ction-label">
            <a:extLst>
              <a:ext uri="{FF2B5EF4-FFF2-40B4-BE49-F238E27FC236}">
                <a16:creationId xmlns:a16="http://schemas.microsoft.com/office/drawing/2014/main" id="{AF620ECC-DD2A-43E2-B7EC-50891CDD145F}"/>
              </a:ext>
            </a:extLst>
          </p:cNvPr>
          <p:cNvSpPr>
            <a:spLocks noGrp="1"/>
          </p:cNvSpPr>
          <p:nvPr/>
        </p:nvSpPr>
        <p:spPr>
          <a:xfrm>
            <a:off x="685800" y="257175"/>
            <a:ext cx="8572500" cy="209550"/>
          </a:xfrm>
          <a:prstGeom prst="rect">
            <a:avLst/>
          </a:prstGeom>
          <a:noFill/>
          <a:ln w="0">
            <a:noFill/>
            <a:prstDash val="solid"/>
          </a:ln>
        </p:spPr>
        <p:txBody>
          <a:bodyPr wrap="square" lIns="0" tIns="0" rIns="0" bIns="0" anchor="t">
            <a:normAutofit/>
          </a:bodyPr>
          <a:lstStyle>
            <a:defPPr algn="l">
              <a:defRPr sz="1050" b="1" i="0">
                <a:solidFill>
                  <a:srgbClr val="147D82"/>
                </a:solidFill>
                <a:latin typeface="Arial"/>
                <a:ea typeface="Arial"/>
                <a:cs typeface="Arial"/>
              </a:defRPr>
            </a:defPPr>
          </a:lstStyle>
          <a:p>
            <a:pPr algn="l">
              <a:lnSpc>
                <a:spcPct val="100000"/>
              </a:lnSpc>
              <a:buNone/>
              <a:defRPr sz="1050" b="1" i="0">
                <a:solidFill>
                  <a:srgbClr val="147D82"/>
                </a:solidFill>
                <a:latin typeface="Arial"/>
                <a:ea typeface="Arial"/>
                <a:cs typeface="Arial"/>
              </a:defRPr>
            </a:pPr>
            <a:r>
              <a:rPr sz="1050" b="1" i="0">
                <a:solidFill>
                  <a:srgbClr val="147D82"/>
                </a:solidFill>
                <a:latin typeface="Arial"/>
                <a:ea typeface="Arial"/>
                <a:cs typeface="Arial"/>
              </a:rPr>
              <a:t>METHOD</a:t>
            </a:r>
          </a:p>
        </p:txBody>
      </p:sp>
      <p:sp>
        <p:nvSpPr>
          <p:cNvPr id="2" name="slide-title">
            <a:extLst>
              <a:ext uri="{FF2B5EF4-FFF2-40B4-BE49-F238E27FC236}">
                <a16:creationId xmlns:a16="http://schemas.microsoft.com/office/drawing/2014/main" id="{081072EF-2751-4C23-A3F4-404D1290C308}"/>
              </a:ext>
            </a:extLst>
          </p:cNvPr>
          <p:cNvSpPr>
            <a:spLocks noGrp="1"/>
          </p:cNvSpPr>
          <p:nvPr/>
        </p:nvSpPr>
        <p:spPr>
          <a:xfrm>
            <a:off x="685800" y="552450"/>
            <a:ext cx="10820400" cy="552450"/>
          </a:xfrm>
          <a:prstGeom prst="rect">
            <a:avLst/>
          </a:prstGeom>
          <a:noFill/>
          <a:ln w="0">
            <a:noFill/>
            <a:prstDash val="solid"/>
          </a:ln>
        </p:spPr>
        <p:txBody>
          <a:bodyPr wrap="square" lIns="0" tIns="0" rIns="0" bIns="0" anchor="t">
            <a:normAutofit/>
          </a:bodyPr>
          <a:lstStyle>
            <a:defPPr algn="l">
              <a:defRPr sz="3225" b="1" i="0">
                <a:solidFill>
                  <a:srgbClr val="12304A"/>
                </a:solidFill>
                <a:latin typeface="Arial"/>
                <a:ea typeface="Arial"/>
                <a:cs typeface="Arial"/>
              </a:defRPr>
            </a:defPPr>
          </a:lstStyle>
          <a:p>
            <a:pPr algn="l">
              <a:lnSpc>
                <a:spcPct val="100000"/>
              </a:lnSpc>
              <a:buNone/>
              <a:defRPr sz="3225" b="1" i="0">
                <a:solidFill>
                  <a:srgbClr val="12304A"/>
                </a:solidFill>
                <a:latin typeface="Arial"/>
                <a:ea typeface="Arial"/>
                <a:cs typeface="Arial"/>
              </a:defRPr>
            </a:pPr>
            <a:r>
              <a:rPr sz="3225" b="1" i="0">
                <a:solidFill>
                  <a:srgbClr val="12304A"/>
                </a:solidFill>
                <a:latin typeface="Arial"/>
                <a:ea typeface="Arial"/>
                <a:cs typeface="Arial"/>
              </a:rPr>
              <a:t>Preparation and quality controls</a:t>
            </a:r>
          </a:p>
        </p:txBody>
      </p:sp>
      <p:sp>
        <p:nvSpPr>
          <p:cNvPr id="3" name="footer">
            <a:extLst>
              <a:ext uri="{FF2B5EF4-FFF2-40B4-BE49-F238E27FC236}">
                <a16:creationId xmlns:a16="http://schemas.microsoft.com/office/drawing/2014/main" id="{3759DE63-DF60-4966-9BF8-4DB14852DA52}"/>
              </a:ext>
            </a:extLst>
          </p:cNvPr>
          <p:cNvSpPr>
            <a:spLocks noGrp="1"/>
          </p:cNvSpPr>
          <p:nvPr/>
        </p:nvSpPr>
        <p:spPr>
          <a:xfrm>
            <a:off x="685800" y="6477000"/>
            <a:ext cx="8572500" cy="209550"/>
          </a:xfrm>
          <a:prstGeom prst="rect">
            <a:avLst/>
          </a:prstGeom>
          <a:noFill/>
          <a:ln w="0">
            <a:noFill/>
            <a:prstDash val="solid"/>
          </a:ln>
        </p:spPr>
        <p:txBody>
          <a:bodyPr wrap="square" lIns="0" tIns="0" rIns="0" bIns="0" anchor="t">
            <a:normAutofit/>
          </a:bodyPr>
          <a:lstStyle>
            <a:defPPr algn="l">
              <a:defRPr sz="1050" b="0" i="0">
                <a:solidFill>
                  <a:srgbClr val="586B78"/>
                </a:solidFill>
                <a:latin typeface="Arial"/>
                <a:ea typeface="Arial"/>
                <a:cs typeface="Arial"/>
              </a:defRPr>
            </a:defPPr>
          </a:lstStyle>
          <a:p>
            <a:pPr algn="l">
              <a:lnSpc>
                <a:spcPct val="100000"/>
              </a:lnSpc>
              <a:buNone/>
              <a:defRPr sz="1050" b="0" i="0">
                <a:solidFill>
                  <a:srgbClr val="586B78"/>
                </a:solidFill>
                <a:latin typeface="Arial"/>
                <a:ea typeface="Arial"/>
                <a:cs typeface="Arial"/>
              </a:defRPr>
            </a:pPr>
            <a:r>
              <a:rPr sz="1050" b="0" i="0">
                <a:solidFill>
                  <a:srgbClr val="586B78"/>
                </a:solidFill>
                <a:latin typeface="Arial"/>
                <a:ea typeface="Arial"/>
                <a:cs typeface="Arial"/>
              </a:rPr>
              <a:t>Historical Olist records | 4 Sep 2016–17 Oct 2018</a:t>
            </a:r>
          </a:p>
        </p:txBody>
      </p:sp>
      <p:sp>
        <p:nvSpPr>
          <p:cNvPr id="4" name="quality-bullet-0">
            <a:extLst>
              <a:ext uri="{FF2B5EF4-FFF2-40B4-BE49-F238E27FC236}">
                <a16:creationId xmlns:a16="http://schemas.microsoft.com/office/drawing/2014/main" id="{3D72A010-02BE-494B-AB43-3B5E32F1BECB}"/>
              </a:ext>
            </a:extLst>
          </p:cNvPr>
          <p:cNvSpPr>
            <a:spLocks noGrp="1"/>
          </p:cNvSpPr>
          <p:nvPr/>
        </p:nvSpPr>
        <p:spPr>
          <a:xfrm>
            <a:off x="876300" y="1428750"/>
            <a:ext cx="10382250" cy="704850"/>
          </a:xfrm>
          <a:prstGeom prst="rect">
            <a:avLst/>
          </a:prstGeom>
          <a:noFill/>
          <a:ln w="0">
            <a:noFill/>
            <a:prstDash val="solid"/>
          </a:ln>
        </p:spPr>
        <p:txBody>
          <a:bodyPr wrap="square" lIns="0" tIns="0" rIns="0" bIns="0" anchor="t">
            <a:normAutofit/>
          </a:bodyPr>
          <a:lstStyle>
            <a:defPPr algn="l">
              <a:defRPr sz="1725" b="0" i="0">
                <a:solidFill>
                  <a:srgbClr val="22313D"/>
                </a:solidFill>
                <a:latin typeface="Arial"/>
                <a:ea typeface="Arial"/>
                <a:cs typeface="Arial"/>
              </a:defRPr>
            </a:defPPr>
          </a:lstStyle>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  Raw CSV files were preserved; repeatable shaping was done in Power Query clean queries.</a:t>
            </a:r>
          </a:p>
        </p:txBody>
      </p:sp>
      <p:sp>
        <p:nvSpPr>
          <p:cNvPr id="5" name="quality-bullet-1">
            <a:extLst>
              <a:ext uri="{FF2B5EF4-FFF2-40B4-BE49-F238E27FC236}">
                <a16:creationId xmlns:a16="http://schemas.microsoft.com/office/drawing/2014/main" id="{1EA18831-F551-4D15-BB5E-A92F48DC3D09}"/>
              </a:ext>
            </a:extLst>
          </p:cNvPr>
          <p:cNvSpPr>
            <a:spLocks noGrp="1"/>
          </p:cNvSpPr>
          <p:nvPr/>
        </p:nvSpPr>
        <p:spPr>
          <a:xfrm>
            <a:off x="876300" y="2305050"/>
            <a:ext cx="10382250" cy="704850"/>
          </a:xfrm>
          <a:prstGeom prst="rect">
            <a:avLst/>
          </a:prstGeom>
          <a:noFill/>
          <a:ln w="0">
            <a:noFill/>
            <a:prstDash val="solid"/>
          </a:ln>
        </p:spPr>
        <p:txBody>
          <a:bodyPr wrap="square" lIns="0" tIns="0" rIns="0" bIns="0" anchor="t">
            <a:normAutofit/>
          </a:bodyPr>
          <a:lstStyle>
            <a:defPPr algn="l">
              <a:defRPr sz="1725" b="0" i="0">
                <a:solidFill>
                  <a:srgbClr val="22313D"/>
                </a:solidFill>
                <a:latin typeface="Arial"/>
                <a:ea typeface="Arial"/>
                <a:cs typeface="Arial"/>
              </a:defRPr>
            </a:defPPr>
          </a:lstStyle>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  ID fields were kept as text and timestamps as date/time. Blank timestamps were not filled with invented dates.</a:t>
            </a:r>
          </a:p>
        </p:txBody>
      </p:sp>
      <p:sp>
        <p:nvSpPr>
          <p:cNvPr id="6" name="quality-bullet-2">
            <a:extLst>
              <a:ext uri="{FF2B5EF4-FFF2-40B4-BE49-F238E27FC236}">
                <a16:creationId xmlns:a16="http://schemas.microsoft.com/office/drawing/2014/main" id="{20031BC2-9F6E-4741-A730-2D644E9F2104}"/>
              </a:ext>
            </a:extLst>
          </p:cNvPr>
          <p:cNvSpPr>
            <a:spLocks noGrp="1"/>
          </p:cNvSpPr>
          <p:nvPr/>
        </p:nvSpPr>
        <p:spPr>
          <a:xfrm>
            <a:off x="876300" y="3181350"/>
            <a:ext cx="10382250" cy="704850"/>
          </a:xfrm>
          <a:prstGeom prst="rect">
            <a:avLst/>
          </a:prstGeom>
          <a:noFill/>
          <a:ln w="0">
            <a:noFill/>
            <a:prstDash val="solid"/>
          </a:ln>
        </p:spPr>
        <p:txBody>
          <a:bodyPr wrap="square" lIns="0" tIns="0" rIns="0" bIns="0" anchor="t">
            <a:normAutofit/>
          </a:bodyPr>
          <a:lstStyle>
            <a:defPPr algn="l">
              <a:defRPr sz="1725" b="0" i="0">
                <a:solidFill>
                  <a:srgbClr val="22313D"/>
                </a:solidFill>
                <a:latin typeface="Arial"/>
                <a:ea typeface="Arial"/>
                <a:cs typeface="Arial"/>
              </a:defRPr>
            </a:defPPr>
          </a:lstStyle>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  Missing source product categories were labeled Unspecified in analysis; source labels without an English mapping were retained.</a:t>
            </a:r>
          </a:p>
        </p:txBody>
      </p:sp>
      <p:sp>
        <p:nvSpPr>
          <p:cNvPr id="7" name="quality-bullet-3">
            <a:extLst>
              <a:ext uri="{FF2B5EF4-FFF2-40B4-BE49-F238E27FC236}">
                <a16:creationId xmlns:a16="http://schemas.microsoft.com/office/drawing/2014/main" id="{5DDCBF63-3DA4-4CF1-A07A-EF4A633AEB3C}"/>
              </a:ext>
            </a:extLst>
          </p:cNvPr>
          <p:cNvSpPr>
            <a:spLocks noGrp="1"/>
          </p:cNvSpPr>
          <p:nvPr/>
        </p:nvSpPr>
        <p:spPr>
          <a:xfrm>
            <a:off x="876300" y="4057650"/>
            <a:ext cx="10382250" cy="704850"/>
          </a:xfrm>
          <a:prstGeom prst="rect">
            <a:avLst/>
          </a:prstGeom>
          <a:noFill/>
          <a:ln w="0">
            <a:noFill/>
            <a:prstDash val="solid"/>
          </a:ln>
        </p:spPr>
        <p:txBody>
          <a:bodyPr wrap="square" lIns="0" tIns="0" rIns="0" bIns="0" anchor="t">
            <a:normAutofit/>
          </a:bodyPr>
          <a:lstStyle>
            <a:defPPr algn="l">
              <a:defRPr sz="1725" b="0" i="0">
                <a:solidFill>
                  <a:srgbClr val="22313D"/>
                </a:solidFill>
                <a:latin typeface="Arial"/>
                <a:ea typeface="Arial"/>
                <a:cs typeface="Arial"/>
              </a:defRPr>
            </a:defPPr>
          </a:lstStyle>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  The Data Model and check queries reviewed key uniqueness, joins, row counts, and value totals; six relationships were active.</a:t>
            </a:r>
          </a:p>
        </p:txBody>
      </p:sp>
      <p:sp>
        <p:nvSpPr>
          <p:cNvPr id="8" name="quality-bullet-4">
            <a:extLst>
              <a:ext uri="{FF2B5EF4-FFF2-40B4-BE49-F238E27FC236}">
                <a16:creationId xmlns:a16="http://schemas.microsoft.com/office/drawing/2014/main" id="{1D401ADA-C86E-440A-98A6-A6351F2E44DA}"/>
              </a:ext>
            </a:extLst>
          </p:cNvPr>
          <p:cNvSpPr>
            <a:spLocks noGrp="1"/>
          </p:cNvSpPr>
          <p:nvPr/>
        </p:nvSpPr>
        <p:spPr>
          <a:xfrm>
            <a:off x="876300" y="4933950"/>
            <a:ext cx="10382250" cy="704850"/>
          </a:xfrm>
          <a:prstGeom prst="rect">
            <a:avLst/>
          </a:prstGeom>
          <a:noFill/>
          <a:ln w="0">
            <a:noFill/>
            <a:prstDash val="solid"/>
          </a:ln>
        </p:spPr>
        <p:txBody>
          <a:bodyPr wrap="square" lIns="0" tIns="0" rIns="0" bIns="0" anchor="t">
            <a:normAutofit/>
          </a:bodyPr>
          <a:lstStyle>
            <a:defPPr algn="l">
              <a:defRPr sz="1725" b="0" i="0">
                <a:solidFill>
                  <a:srgbClr val="22313D"/>
                </a:solidFill>
                <a:latin typeface="Arial"/>
                <a:ea typeface="Arial"/>
                <a:cs typeface="Arial"/>
              </a:defRPr>
            </a:defPPr>
          </a:lstStyle>
          <a:p>
            <a:pPr algn="l">
              <a:lnSpc>
                <a:spcPct val="100000"/>
              </a:lnSpc>
              <a:buNone/>
              <a:defRPr sz="1725" b="0" i="0">
                <a:solidFill>
                  <a:srgbClr val="22313D"/>
                </a:solidFill>
                <a:latin typeface="Arial"/>
                <a:ea typeface="Arial"/>
                <a:cs typeface="Arial"/>
              </a:defRPr>
            </a:pPr>
            <a:r>
              <a:rPr sz="1725" b="0" i="0">
                <a:solidFill>
                  <a:srgbClr val="22313D"/>
                </a:solidFill>
                <a:latin typeface="Arial"/>
                <a:ea typeface="Arial"/>
                <a:cs typeface="Arial"/>
              </a:rPr>
              <a:t>•  Large queries stayed in connections/Data Model as appropriate. The 1,000,163-row geolocation file is close to Excel's worksheet row ceiling.</a:t>
            </a:r>
          </a:p>
        </p:txBody>
      </p:sp>
      <p:sp>
        <p:nvSpPr>
          <p:cNvPr id="9" name="quality-checkline">
            <a:extLst>
              <a:ext uri="{FF2B5EF4-FFF2-40B4-BE49-F238E27FC236}">
                <a16:creationId xmlns:a16="http://schemas.microsoft.com/office/drawing/2014/main" id="{D9F545C4-5170-4647-B93F-6FB4DAB2E07B}"/>
              </a:ext>
            </a:extLst>
          </p:cNvPr>
          <p:cNvSpPr>
            <a:spLocks noGrp="1"/>
          </p:cNvSpPr>
          <p:nvPr/>
        </p:nvSpPr>
        <p:spPr>
          <a:xfrm>
            <a:off x="876300" y="5953125"/>
            <a:ext cx="10477500" cy="304800"/>
          </a:xfrm>
          <a:prstGeom prst="rect">
            <a:avLst/>
          </a:prstGeom>
          <a:noFill/>
          <a:ln w="0">
            <a:noFill/>
            <a:prstDash val="solid"/>
          </a:ln>
        </p:spPr>
        <p:txBody>
          <a:bodyPr wrap="square" lIns="0" tIns="0" rIns="0" bIns="0" anchor="t">
            <a:normAutofit/>
          </a:bodyPr>
          <a:lstStyle>
            <a:defPPr algn="l">
              <a:defRPr sz="1275" b="1" i="0">
                <a:solidFill>
                  <a:srgbClr val="147D82"/>
                </a:solidFill>
                <a:latin typeface="Arial"/>
                <a:ea typeface="Arial"/>
                <a:cs typeface="Arial"/>
              </a:defRPr>
            </a:defPPr>
          </a:lstStyle>
          <a:p>
            <a:pPr algn="l">
              <a:lnSpc>
                <a:spcPct val="100000"/>
              </a:lnSpc>
              <a:buNone/>
              <a:defRPr sz="1275" b="1" i="0">
                <a:solidFill>
                  <a:srgbClr val="147D82"/>
                </a:solidFill>
                <a:latin typeface="Arial"/>
                <a:ea typeface="Arial"/>
                <a:cs typeface="Arial"/>
              </a:defRPr>
            </a:pPr>
            <a:r>
              <a:rPr sz="1275" b="1" i="0">
                <a:solidFill>
                  <a:srgbClr val="147D82"/>
                </a:solidFill>
                <a:latin typeface="Arial"/>
                <a:ea typeface="Arial"/>
                <a:cs typeface="Arial"/>
              </a:rPr>
              <a:t>Control totals: 99,441 orders  |  112,650 item rows  |  103,886 payment rows  |  99,224 review records</a:t>
            </a:r>
          </a:p>
        </p:txBody>
      </p:sp>
    </p:spTree>
    <p:extLst>
      <p:ext uri="{BB962C8B-B14F-4D97-AF65-F5344CB8AC3E}">
        <p14:creationId xmlns:p14="http://schemas.microsoft.com/office/powerpoint/2010/main" val="11142710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CA5A9EE9-7EC2-4B4F-B961-0D44983DF66C}"/>
              </a:ext>
            </a:extLst>
          </p:cNvPr>
          <p:cNvSpPr>
            <a:spLocks noGrp="1"/>
          </p:cNvSpPr>
          <p:nvPr/>
        </p:nvSpPr>
        <p:spPr>
          <a:xfrm>
            <a:off x="685800" y="257175"/>
            <a:ext cx="8572500" cy="209550"/>
          </a:xfrm>
          <a:prstGeom prst="rect">
            <a:avLst/>
          </a:prstGeom>
          <a:noFill/>
          <a:ln w="0">
            <a:noFill/>
            <a:prstDash val="solid"/>
          </a:ln>
        </p:spPr>
        <p:txBody>
          <a:bodyPr wrap="square" lIns="0" tIns="0" rIns="0" bIns="0" anchor="t">
            <a:normAutofit/>
          </a:bodyPr>
          <a:lstStyle>
            <a:defPPr algn="l">
              <a:defRPr sz="1050" b="1" i="0">
                <a:solidFill>
                  <a:srgbClr val="147D82"/>
                </a:solidFill>
                <a:latin typeface="Arial"/>
                <a:ea typeface="Arial"/>
                <a:cs typeface="Arial"/>
              </a:defRPr>
            </a:defPPr>
          </a:lstStyle>
          <a:p>
            <a:pPr algn="l">
              <a:lnSpc>
                <a:spcPct val="100000"/>
              </a:lnSpc>
              <a:buNone/>
              <a:defRPr sz="1050" b="1" i="0">
                <a:solidFill>
                  <a:srgbClr val="147D82"/>
                </a:solidFill>
                <a:latin typeface="Arial"/>
                <a:ea typeface="Arial"/>
                <a:cs typeface="Arial"/>
              </a:defRPr>
            </a:pPr>
            <a:r>
              <a:rPr sz="1050" b="1" i="0">
                <a:solidFill>
                  <a:srgbClr val="147D82"/>
                </a:solidFill>
                <a:latin typeface="Arial"/>
                <a:ea typeface="Arial"/>
                <a:cs typeface="Arial"/>
              </a:rPr>
              <a:t>HISTORICAL TRENDS</a:t>
            </a:r>
          </a:p>
        </p:txBody>
      </p:sp>
      <p:sp>
        <p:nvSpPr>
          <p:cNvPr id="2" name="slide-title">
            <a:extLst>
              <a:ext uri="{FF2B5EF4-FFF2-40B4-BE49-F238E27FC236}">
                <a16:creationId xmlns:a16="http://schemas.microsoft.com/office/drawing/2014/main" id="{5ED9A844-E811-480B-983F-41E848D28208}"/>
              </a:ext>
            </a:extLst>
          </p:cNvPr>
          <p:cNvSpPr>
            <a:spLocks noGrp="1"/>
          </p:cNvSpPr>
          <p:nvPr/>
        </p:nvSpPr>
        <p:spPr>
          <a:xfrm>
            <a:off x="685800" y="552450"/>
            <a:ext cx="10820400" cy="552450"/>
          </a:xfrm>
          <a:prstGeom prst="rect">
            <a:avLst/>
          </a:prstGeom>
          <a:noFill/>
          <a:ln w="0">
            <a:noFill/>
            <a:prstDash val="solid"/>
          </a:ln>
        </p:spPr>
        <p:txBody>
          <a:bodyPr wrap="square" lIns="0" tIns="0" rIns="0" bIns="0" anchor="t">
            <a:normAutofit/>
          </a:bodyPr>
          <a:lstStyle>
            <a:defPPr algn="l">
              <a:defRPr sz="3225" b="1" i="0">
                <a:solidFill>
                  <a:srgbClr val="12304A"/>
                </a:solidFill>
                <a:latin typeface="Arial"/>
                <a:ea typeface="Arial"/>
                <a:cs typeface="Arial"/>
              </a:defRPr>
            </a:defPPr>
          </a:lstStyle>
          <a:p>
            <a:pPr algn="l">
              <a:lnSpc>
                <a:spcPct val="100000"/>
              </a:lnSpc>
              <a:buNone/>
              <a:defRPr sz="3225" b="1" i="0">
                <a:solidFill>
                  <a:srgbClr val="12304A"/>
                </a:solidFill>
                <a:latin typeface="Arial"/>
                <a:ea typeface="Arial"/>
                <a:cs typeface="Arial"/>
              </a:defRPr>
            </a:pPr>
            <a:r>
              <a:rPr sz="3225" b="1" i="0">
                <a:solidFill>
                  <a:srgbClr val="12304A"/>
                </a:solidFill>
                <a:latin typeface="Arial"/>
                <a:ea typeface="Arial"/>
                <a:cs typeface="Arial"/>
              </a:rPr>
              <a:t>2017 monthly activity</a:t>
            </a:r>
          </a:p>
        </p:txBody>
      </p:sp>
      <p:sp>
        <p:nvSpPr>
          <p:cNvPr id="3" name="footer">
            <a:extLst>
              <a:ext uri="{FF2B5EF4-FFF2-40B4-BE49-F238E27FC236}">
                <a16:creationId xmlns:a16="http://schemas.microsoft.com/office/drawing/2014/main" id="{A867E54C-BA20-493F-8C62-AA6CFB086E00}"/>
              </a:ext>
            </a:extLst>
          </p:cNvPr>
          <p:cNvSpPr>
            <a:spLocks noGrp="1"/>
          </p:cNvSpPr>
          <p:nvPr/>
        </p:nvSpPr>
        <p:spPr>
          <a:xfrm>
            <a:off x="685800" y="6477000"/>
            <a:ext cx="8572500" cy="209550"/>
          </a:xfrm>
          <a:prstGeom prst="rect">
            <a:avLst/>
          </a:prstGeom>
          <a:noFill/>
          <a:ln w="0">
            <a:noFill/>
            <a:prstDash val="solid"/>
          </a:ln>
        </p:spPr>
        <p:txBody>
          <a:bodyPr wrap="square" lIns="0" tIns="0" rIns="0" bIns="0" anchor="t">
            <a:normAutofit/>
          </a:bodyPr>
          <a:lstStyle>
            <a:defPPr algn="l">
              <a:defRPr sz="1050" b="0" i="0">
                <a:solidFill>
                  <a:srgbClr val="586B78"/>
                </a:solidFill>
                <a:latin typeface="Arial"/>
                <a:ea typeface="Arial"/>
                <a:cs typeface="Arial"/>
              </a:defRPr>
            </a:defPPr>
          </a:lstStyle>
          <a:p>
            <a:pPr algn="l">
              <a:lnSpc>
                <a:spcPct val="100000"/>
              </a:lnSpc>
              <a:buNone/>
              <a:defRPr sz="1050" b="0" i="0">
                <a:solidFill>
                  <a:srgbClr val="586B78"/>
                </a:solidFill>
                <a:latin typeface="Arial"/>
                <a:ea typeface="Arial"/>
                <a:cs typeface="Arial"/>
              </a:defRPr>
            </a:pPr>
            <a:r>
              <a:rPr sz="1050" b="0" i="0">
                <a:solidFill>
                  <a:srgbClr val="586B78"/>
                </a:solidFill>
                <a:latin typeface="Arial"/>
                <a:ea typeface="Arial"/>
                <a:cs typeface="Arial"/>
              </a:rPr>
              <a:t>Historical Olist records | 4 Sep 2016–17 Oct 2018</a:t>
            </a:r>
          </a:p>
        </p:txBody>
      </p:sp>
      <p:sp>
        <p:nvSpPr>
          <p:cNvPr id="4" name="trend-note">
            <a:extLst>
              <a:ext uri="{FF2B5EF4-FFF2-40B4-BE49-F238E27FC236}">
                <a16:creationId xmlns:a16="http://schemas.microsoft.com/office/drawing/2014/main" id="{98F3EB88-2FCF-4A8C-B421-5152D102D062}"/>
              </a:ext>
            </a:extLst>
          </p:cNvPr>
          <p:cNvSpPr>
            <a:spLocks noGrp="1"/>
          </p:cNvSpPr>
          <p:nvPr/>
        </p:nvSpPr>
        <p:spPr>
          <a:xfrm>
            <a:off x="723900" y="1257300"/>
            <a:ext cx="10668000" cy="523875"/>
          </a:xfrm>
          <a:prstGeom prst="rect">
            <a:avLst/>
          </a:prstGeom>
          <a:noFill/>
          <a:ln w="0">
            <a:noFill/>
            <a:prstDash val="solid"/>
          </a:ln>
        </p:spPr>
        <p:txBody>
          <a:bodyPr wrap="square" lIns="0" tIns="0" rIns="0" bIns="0" anchor="t">
            <a:normAutofit/>
          </a:bodyPr>
          <a:lstStyle>
            <a:defPPr algn="l">
              <a:defRPr sz="1425" b="0" i="0">
                <a:solidFill>
                  <a:srgbClr val="586B78"/>
                </a:solidFill>
                <a:latin typeface="Arial"/>
                <a:ea typeface="Arial"/>
                <a:cs typeface="Arial"/>
              </a:defRPr>
            </a:defPPr>
          </a:lstStyle>
          <a:p>
            <a:pPr algn="l">
              <a:lnSpc>
                <a:spcPct val="100000"/>
              </a:lnSpc>
              <a:buNone/>
              <a:defRPr sz="1425" b="0" i="0">
                <a:solidFill>
                  <a:srgbClr val="586B78"/>
                </a:solidFill>
                <a:latin typeface="Arial"/>
                <a:ea typeface="Arial"/>
                <a:cs typeface="Arial"/>
              </a:defRPr>
            </a:pPr>
            <a:r>
              <a:rPr sz="1425" b="0" i="0">
                <a:solidFill>
                  <a:srgbClr val="586B78"/>
                </a:solidFill>
                <a:latin typeface="Arial"/>
                <a:ea typeface="Arial"/>
                <a:cs typeface="Arial"/>
              </a:rPr>
              <a:t>The charts below isolate calendar year 2017 for a readable monthly comparison. Order volume includes all statuses; item price includes delivered orders only.</a:t>
            </a:r>
          </a:p>
        </p:txBody>
      </p:sp>
      <p:graphicFrame>
        <p:nvGraphicFramePr>
          <p:cNvPr id="5" name="Chart">
            <a:extLst>
              <a:ext uri="{FF2B5EF4-FFF2-40B4-BE49-F238E27FC236}">
                <a16:creationId xmlns:a16="http://schemas.microsoft.com/office/drawing/2014/main" id="{193BD2BC-DA64-434D-B947-E2680046D29A}"/>
              </a:ext>
            </a:extLst>
          </p:cNvPr>
          <p:cNvGraphicFramePr/>
          <p:nvPr/>
        </p:nvGraphicFramePr>
        <p:xfrm>
          <a:off x="590550" y="1962150"/>
          <a:ext cx="5334000" cy="36671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a:extLst>
              <a:ext uri="{FF2B5EF4-FFF2-40B4-BE49-F238E27FC236}">
                <a16:creationId xmlns:a16="http://schemas.microsoft.com/office/drawing/2014/main" id="{654AFE9E-265F-4658-AA7B-297EB9F43455}"/>
              </a:ext>
            </a:extLst>
          </p:cNvPr>
          <p:cNvGraphicFramePr/>
          <p:nvPr/>
        </p:nvGraphicFramePr>
        <p:xfrm>
          <a:off x="6267450" y="1962150"/>
          <a:ext cx="5334000" cy="3667125"/>
        </p:xfrm>
        <a:graphic>
          <a:graphicData uri="http://schemas.openxmlformats.org/drawingml/2006/chart">
            <c:chart xmlns:c="http://schemas.openxmlformats.org/drawingml/2006/chart" xmlns:r="http://schemas.openxmlformats.org/officeDocument/2006/relationships" r:id="rId4"/>
          </a:graphicData>
        </a:graphic>
      </p:graphicFrame>
      <p:sp>
        <p:nvSpPr>
          <p:cNvPr id="7" name="trend-callout">
            <a:extLst>
              <a:ext uri="{FF2B5EF4-FFF2-40B4-BE49-F238E27FC236}">
                <a16:creationId xmlns:a16="http://schemas.microsoft.com/office/drawing/2014/main" id="{23BB4524-7F23-46B4-84A3-C655A5F4923E}"/>
              </a:ext>
            </a:extLst>
          </p:cNvPr>
          <p:cNvSpPr>
            <a:spLocks noGrp="1"/>
          </p:cNvSpPr>
          <p:nvPr/>
        </p:nvSpPr>
        <p:spPr>
          <a:xfrm>
            <a:off x="809625" y="5810250"/>
            <a:ext cx="10477500" cy="400050"/>
          </a:xfrm>
          <a:prstGeom prst="rect">
            <a:avLst/>
          </a:prstGeom>
          <a:noFill/>
          <a:ln w="0">
            <a:noFill/>
            <a:prstDash val="solid"/>
          </a:ln>
        </p:spPr>
        <p:txBody>
          <a:bodyPr wrap="square" lIns="0" tIns="0" rIns="0" bIns="0" anchor="t">
            <a:normAutofit fontScale="88470"/>
          </a:bodyPr>
          <a:lstStyle>
            <a:defPPr algn="l">
              <a:defRPr sz="1650" b="1" i="0">
                <a:solidFill>
                  <a:srgbClr val="147D82"/>
                </a:solidFill>
                <a:latin typeface="Arial"/>
                <a:ea typeface="Arial"/>
                <a:cs typeface="Arial"/>
              </a:defRPr>
            </a:defPPr>
          </a:lstStyle>
          <a:p>
            <a:pPr algn="l">
              <a:lnSpc>
                <a:spcPct val="100000"/>
              </a:lnSpc>
              <a:buNone/>
              <a:defRPr sz="1650" b="1" i="0">
                <a:solidFill>
                  <a:srgbClr val="147D82"/>
                </a:solidFill>
                <a:latin typeface="Arial"/>
                <a:ea typeface="Arial"/>
                <a:cs typeface="Arial"/>
              </a:defRPr>
            </a:pPr>
            <a:r>
              <a:rPr sz="1650" b="1" i="0">
                <a:solidFill>
                  <a:srgbClr val="147D82"/>
                </a:solidFill>
                <a:latin typeface="Arial"/>
                <a:ea typeface="Arial"/>
                <a:cs typeface="Arial"/>
              </a:rPr>
              <a:t>November 2017 was the peak month in both measures: 7,544 orders and 987,765.37 delivered item price units.</a:t>
            </a:r>
          </a:p>
        </p:txBody>
      </p:sp>
    </p:spTree>
    <p:extLst>
      <p:ext uri="{BB962C8B-B14F-4D97-AF65-F5344CB8AC3E}">
        <p14:creationId xmlns:p14="http://schemas.microsoft.com/office/powerpoint/2010/main" val="19244102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DB69831A-0C3D-477F-B303-66E372892D64}"/>
              </a:ext>
            </a:extLst>
          </p:cNvPr>
          <p:cNvSpPr>
            <a:spLocks noGrp="1"/>
          </p:cNvSpPr>
          <p:nvPr/>
        </p:nvSpPr>
        <p:spPr>
          <a:xfrm>
            <a:off x="685800" y="257175"/>
            <a:ext cx="8572500" cy="209550"/>
          </a:xfrm>
          <a:prstGeom prst="rect">
            <a:avLst/>
          </a:prstGeom>
          <a:noFill/>
          <a:ln w="0">
            <a:noFill/>
            <a:prstDash val="solid"/>
          </a:ln>
        </p:spPr>
        <p:txBody>
          <a:bodyPr wrap="square" lIns="0" tIns="0" rIns="0" bIns="0" anchor="t">
            <a:normAutofit/>
          </a:bodyPr>
          <a:lstStyle>
            <a:defPPr algn="l">
              <a:defRPr sz="1050" b="1" i="0">
                <a:solidFill>
                  <a:srgbClr val="147D82"/>
                </a:solidFill>
                <a:latin typeface="Arial"/>
                <a:ea typeface="Arial"/>
                <a:cs typeface="Arial"/>
              </a:defRPr>
            </a:defPPr>
          </a:lstStyle>
          <a:p>
            <a:pPr algn="l">
              <a:lnSpc>
                <a:spcPct val="100000"/>
              </a:lnSpc>
              <a:buNone/>
              <a:defRPr sz="1050" b="1" i="0">
                <a:solidFill>
                  <a:srgbClr val="147D82"/>
                </a:solidFill>
                <a:latin typeface="Arial"/>
                <a:ea typeface="Arial"/>
                <a:cs typeface="Arial"/>
              </a:defRPr>
            </a:pPr>
            <a:r>
              <a:rPr sz="1050" b="1" i="0">
                <a:solidFill>
                  <a:srgbClr val="147D82"/>
                </a:solidFill>
                <a:latin typeface="Arial"/>
                <a:ea typeface="Arial"/>
                <a:cs typeface="Arial"/>
              </a:rPr>
              <a:t>PRODUCTS AND SELLERS</a:t>
            </a:r>
          </a:p>
        </p:txBody>
      </p:sp>
      <p:sp>
        <p:nvSpPr>
          <p:cNvPr id="2" name="slide-title">
            <a:extLst>
              <a:ext uri="{FF2B5EF4-FFF2-40B4-BE49-F238E27FC236}">
                <a16:creationId xmlns:a16="http://schemas.microsoft.com/office/drawing/2014/main" id="{72C083D7-2CAE-4B84-BB10-8B23D86BEAF9}"/>
              </a:ext>
            </a:extLst>
          </p:cNvPr>
          <p:cNvSpPr>
            <a:spLocks noGrp="1"/>
          </p:cNvSpPr>
          <p:nvPr/>
        </p:nvSpPr>
        <p:spPr>
          <a:xfrm>
            <a:off x="685800" y="552450"/>
            <a:ext cx="10820400" cy="552450"/>
          </a:xfrm>
          <a:prstGeom prst="rect">
            <a:avLst/>
          </a:prstGeom>
          <a:noFill/>
          <a:ln w="0">
            <a:noFill/>
            <a:prstDash val="solid"/>
          </a:ln>
        </p:spPr>
        <p:txBody>
          <a:bodyPr wrap="square" lIns="0" tIns="0" rIns="0" bIns="0" anchor="t">
            <a:normAutofit/>
          </a:bodyPr>
          <a:lstStyle>
            <a:defPPr algn="l">
              <a:defRPr sz="3225" b="1" i="0">
                <a:solidFill>
                  <a:srgbClr val="12304A"/>
                </a:solidFill>
                <a:latin typeface="Arial"/>
                <a:ea typeface="Arial"/>
                <a:cs typeface="Arial"/>
              </a:defRPr>
            </a:defPPr>
          </a:lstStyle>
          <a:p>
            <a:pPr algn="l">
              <a:lnSpc>
                <a:spcPct val="100000"/>
              </a:lnSpc>
              <a:buNone/>
              <a:defRPr sz="3225" b="1" i="0">
                <a:solidFill>
                  <a:srgbClr val="12304A"/>
                </a:solidFill>
                <a:latin typeface="Arial"/>
                <a:ea typeface="Arial"/>
                <a:cs typeface="Arial"/>
              </a:defRPr>
            </a:pPr>
            <a:r>
              <a:rPr sz="3225" b="1" i="0">
                <a:solidFill>
                  <a:srgbClr val="12304A"/>
                </a:solidFill>
                <a:latin typeface="Arial"/>
                <a:ea typeface="Arial"/>
                <a:cs typeface="Arial"/>
              </a:rPr>
              <a:t>Category and seller performance</a:t>
            </a:r>
          </a:p>
        </p:txBody>
      </p:sp>
      <p:sp>
        <p:nvSpPr>
          <p:cNvPr id="3" name="footer">
            <a:extLst>
              <a:ext uri="{FF2B5EF4-FFF2-40B4-BE49-F238E27FC236}">
                <a16:creationId xmlns:a16="http://schemas.microsoft.com/office/drawing/2014/main" id="{97440DB9-3276-4614-8662-FD916CAB49EB}"/>
              </a:ext>
            </a:extLst>
          </p:cNvPr>
          <p:cNvSpPr>
            <a:spLocks noGrp="1"/>
          </p:cNvSpPr>
          <p:nvPr/>
        </p:nvSpPr>
        <p:spPr>
          <a:xfrm>
            <a:off x="685800" y="6477000"/>
            <a:ext cx="8572500" cy="209550"/>
          </a:xfrm>
          <a:prstGeom prst="rect">
            <a:avLst/>
          </a:prstGeom>
          <a:noFill/>
          <a:ln w="0">
            <a:noFill/>
            <a:prstDash val="solid"/>
          </a:ln>
        </p:spPr>
        <p:txBody>
          <a:bodyPr wrap="square" lIns="0" tIns="0" rIns="0" bIns="0" anchor="t">
            <a:normAutofit/>
          </a:bodyPr>
          <a:lstStyle>
            <a:defPPr algn="l">
              <a:defRPr sz="1050" b="0" i="0">
                <a:solidFill>
                  <a:srgbClr val="586B78"/>
                </a:solidFill>
                <a:latin typeface="Arial"/>
                <a:ea typeface="Arial"/>
                <a:cs typeface="Arial"/>
              </a:defRPr>
            </a:defPPr>
          </a:lstStyle>
          <a:p>
            <a:pPr algn="l">
              <a:lnSpc>
                <a:spcPct val="100000"/>
              </a:lnSpc>
              <a:buNone/>
              <a:defRPr sz="1050" b="0" i="0">
                <a:solidFill>
                  <a:srgbClr val="586B78"/>
                </a:solidFill>
                <a:latin typeface="Arial"/>
                <a:ea typeface="Arial"/>
                <a:cs typeface="Arial"/>
              </a:defRPr>
            </a:pPr>
            <a:r>
              <a:rPr sz="1050" b="0" i="0">
                <a:solidFill>
                  <a:srgbClr val="586B78"/>
                </a:solidFill>
                <a:latin typeface="Arial"/>
                <a:ea typeface="Arial"/>
                <a:cs typeface="Arial"/>
              </a:rPr>
              <a:t>Historical Olist records | 4 Sep 2016–17 Oct 2018</a:t>
            </a:r>
          </a:p>
        </p:txBody>
      </p:sp>
      <p:graphicFrame>
        <p:nvGraphicFramePr>
          <p:cNvPr id="4" name="Chart">
            <a:extLst>
              <a:ext uri="{FF2B5EF4-FFF2-40B4-BE49-F238E27FC236}">
                <a16:creationId xmlns:a16="http://schemas.microsoft.com/office/drawing/2014/main" id="{012C8C94-45D1-4CE4-8229-40D2F6BDFFC9}"/>
              </a:ext>
            </a:extLst>
          </p:cNvPr>
          <p:cNvGraphicFramePr/>
          <p:nvPr/>
        </p:nvGraphicFramePr>
        <p:xfrm>
          <a:off x="571500" y="1524000"/>
          <a:ext cx="66675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5" name="category-notes">
            <a:extLst>
              <a:ext uri="{FF2B5EF4-FFF2-40B4-BE49-F238E27FC236}">
                <a16:creationId xmlns:a16="http://schemas.microsoft.com/office/drawing/2014/main" id="{0773EEC1-E4DC-46C4-8FE2-BBB2D1DAFF77}"/>
              </a:ext>
            </a:extLst>
          </p:cNvPr>
          <p:cNvSpPr>
            <a:spLocks noGrp="1"/>
          </p:cNvSpPr>
          <p:nvPr/>
        </p:nvSpPr>
        <p:spPr>
          <a:xfrm>
            <a:off x="7620000" y="1619250"/>
            <a:ext cx="3905250" cy="3857625"/>
          </a:xfrm>
          <a:prstGeom prst="rect">
            <a:avLst/>
          </a:prstGeom>
          <a:noFill/>
          <a:ln w="0">
            <a:noFill/>
            <a:prstDash val="solid"/>
          </a:ln>
        </p:spPr>
        <p:txBody>
          <a:bodyPr wrap="square" lIns="0" tIns="0" rIns="0" bIns="0" anchor="t">
            <a:normAutofit/>
          </a:bodyPr>
          <a:lstStyle>
            <a:defPPr algn="l">
              <a:defRPr sz="1500" b="0" i="0">
                <a:solidFill>
                  <a:srgbClr val="22313D"/>
                </a:solidFill>
                <a:latin typeface="Arial"/>
                <a:ea typeface="Arial"/>
                <a:cs typeface="Arial"/>
              </a:defRPr>
            </a:defPPr>
          </a:lstStyle>
          <a:p>
            <a:pPr algn="l">
              <a:lnSpc>
                <a:spcPct val="108000"/>
              </a:lnSpc>
              <a:buNone/>
              <a:defRPr sz="1500" b="0" i="0">
                <a:solidFill>
                  <a:srgbClr val="22313D"/>
                </a:solidFill>
                <a:latin typeface="Arial"/>
                <a:ea typeface="Arial"/>
                <a:cs typeface="Arial"/>
              </a:defRPr>
            </a:pPr>
            <a:r>
              <a:rPr sz="1500" b="0" i="0">
                <a:solidFill>
                  <a:srgbClr val="22313D"/>
                </a:solidFill>
                <a:latin typeface="Arial"/>
                <a:ea typeface="Arial"/>
                <a:cs typeface="Arial"/>
              </a:rPr>
              <a:t>HEALTH &amp; BEAUTY</a:t>
            </a:r>
          </a:p>
          <a:p>
            <a:pPr algn="l">
              <a:lnSpc>
                <a:spcPct val="108000"/>
              </a:lnSpc>
              <a:buNone/>
              <a:defRPr sz="1500" b="0" i="0">
                <a:solidFill>
                  <a:srgbClr val="22313D"/>
                </a:solidFill>
                <a:latin typeface="Arial"/>
                <a:ea typeface="Arial"/>
                <a:cs typeface="Arial"/>
              </a:defRPr>
            </a:pPr>
            <a:r>
              <a:rPr sz="1500" b="0" i="0">
                <a:solidFill>
                  <a:srgbClr val="22313D"/>
                </a:solidFill>
                <a:latin typeface="Arial"/>
                <a:ea typeface="Arial"/>
                <a:cs typeface="Arial"/>
              </a:rPr>
              <a:t>Highest delivered item price: 1,233,131.72</a:t>
            </a:r>
          </a:p>
          <a:p>
            <a:endParaRPr sz="1500" b="0" i="0">
              <a:solidFill>
                <a:srgbClr val="22313D"/>
              </a:solidFill>
              <a:latin typeface="Arial"/>
              <a:ea typeface="Arial"/>
              <a:cs typeface="Arial"/>
            </a:endParaRPr>
          </a:p>
          <a:p>
            <a:pPr algn="l">
              <a:lnSpc>
                <a:spcPct val="108000"/>
              </a:lnSpc>
              <a:buNone/>
              <a:defRPr sz="1500" b="0" i="0">
                <a:solidFill>
                  <a:srgbClr val="22313D"/>
                </a:solidFill>
                <a:latin typeface="Arial"/>
                <a:ea typeface="Arial"/>
                <a:cs typeface="Arial"/>
              </a:defRPr>
            </a:pPr>
            <a:r>
              <a:rPr sz="1500" b="0" i="0">
                <a:solidFill>
                  <a:srgbClr val="22313D"/>
                </a:solidFill>
                <a:latin typeface="Arial"/>
                <a:ea typeface="Arial"/>
                <a:cs typeface="Arial"/>
              </a:rPr>
              <a:t>BED, BATH &amp; TABLE</a:t>
            </a:r>
          </a:p>
          <a:p>
            <a:pPr algn="l">
              <a:lnSpc>
                <a:spcPct val="108000"/>
              </a:lnSpc>
              <a:buNone/>
              <a:defRPr sz="1500" b="0" i="0">
                <a:solidFill>
                  <a:srgbClr val="22313D"/>
                </a:solidFill>
                <a:latin typeface="Arial"/>
                <a:ea typeface="Arial"/>
                <a:cs typeface="Arial"/>
              </a:defRPr>
            </a:pPr>
            <a:r>
              <a:rPr sz="1500" b="0" i="0">
                <a:solidFill>
                  <a:srgbClr val="22313D"/>
                </a:solidFill>
                <a:latin typeface="Arial"/>
                <a:ea typeface="Arial"/>
                <a:cs typeface="Arial"/>
              </a:rPr>
              <a:t>Largest item-row count: 10,953</a:t>
            </a:r>
          </a:p>
          <a:p>
            <a:endParaRPr sz="1500" b="0" i="0">
              <a:solidFill>
                <a:srgbClr val="22313D"/>
              </a:solidFill>
              <a:latin typeface="Arial"/>
              <a:ea typeface="Arial"/>
              <a:cs typeface="Arial"/>
            </a:endParaRPr>
          </a:p>
          <a:p>
            <a:pPr algn="l">
              <a:lnSpc>
                <a:spcPct val="108000"/>
              </a:lnSpc>
              <a:buNone/>
              <a:defRPr sz="1500" b="0" i="0">
                <a:solidFill>
                  <a:srgbClr val="22313D"/>
                </a:solidFill>
                <a:latin typeface="Arial"/>
                <a:ea typeface="Arial"/>
                <a:cs typeface="Arial"/>
              </a:defRPr>
            </a:pPr>
            <a:r>
              <a:rPr sz="1500" b="0" i="0">
                <a:solidFill>
                  <a:srgbClr val="22313D"/>
                </a:solidFill>
                <a:latin typeface="Arial"/>
                <a:ea typeface="Arial"/>
                <a:cs typeface="Arial"/>
              </a:rPr>
              <a:t>TOP SELLER</a:t>
            </a:r>
          </a:p>
          <a:p>
            <a:pPr algn="l">
              <a:lnSpc>
                <a:spcPct val="108000"/>
              </a:lnSpc>
              <a:buNone/>
              <a:defRPr sz="1500" b="0" i="0">
                <a:solidFill>
                  <a:srgbClr val="22313D"/>
                </a:solidFill>
                <a:latin typeface="Arial"/>
                <a:ea typeface="Arial"/>
                <a:cs typeface="Arial"/>
              </a:defRPr>
            </a:pPr>
            <a:r>
              <a:rPr sz="1500" b="0" i="0">
                <a:solidFill>
                  <a:srgbClr val="22313D"/>
                </a:solidFill>
                <a:latin typeface="Arial"/>
                <a:ea typeface="Arial"/>
                <a:cs typeface="Arial"/>
              </a:rPr>
              <a:t>4869f7a5dfa277a7dca6462dcf3b52b2</a:t>
            </a:r>
          </a:p>
          <a:p>
            <a:pPr algn="l">
              <a:lnSpc>
                <a:spcPct val="108000"/>
              </a:lnSpc>
              <a:buNone/>
              <a:defRPr sz="1500" b="0" i="0">
                <a:solidFill>
                  <a:srgbClr val="22313D"/>
                </a:solidFill>
                <a:latin typeface="Arial"/>
                <a:ea typeface="Arial"/>
                <a:cs typeface="Arial"/>
              </a:defRPr>
            </a:pPr>
            <a:r>
              <a:rPr sz="1500" b="0" i="0">
                <a:solidFill>
                  <a:srgbClr val="22313D"/>
                </a:solidFill>
                <a:latin typeface="Arial"/>
                <a:ea typeface="Arial"/>
                <a:cs typeface="Arial"/>
              </a:rPr>
              <a:t>226,987.93 delivered item price; 1,148 item rows; 1,124 distinct delivered orders.</a:t>
            </a:r>
          </a:p>
        </p:txBody>
      </p:sp>
      <p:sp>
        <p:nvSpPr>
          <p:cNvPr id="6" name="category-note">
            <a:extLst>
              <a:ext uri="{FF2B5EF4-FFF2-40B4-BE49-F238E27FC236}">
                <a16:creationId xmlns:a16="http://schemas.microsoft.com/office/drawing/2014/main" id="{445C953B-AC4E-4382-9692-2D5CB2AD3249}"/>
              </a:ext>
            </a:extLst>
          </p:cNvPr>
          <p:cNvSpPr>
            <a:spLocks noGrp="1"/>
          </p:cNvSpPr>
          <p:nvPr/>
        </p:nvSpPr>
        <p:spPr>
          <a:xfrm>
            <a:off x="781050" y="5810250"/>
            <a:ext cx="10572750" cy="400050"/>
          </a:xfrm>
          <a:prstGeom prst="rect">
            <a:avLst/>
          </a:prstGeom>
          <a:noFill/>
          <a:ln w="0">
            <a:noFill/>
            <a:prstDash val="solid"/>
          </a:ln>
        </p:spPr>
        <p:txBody>
          <a:bodyPr wrap="square" lIns="0" tIns="0" rIns="0" bIns="0" anchor="t">
            <a:normAutofit fontScale="97222"/>
          </a:bodyPr>
          <a:lstStyle>
            <a:defPPr algn="l">
              <a:defRPr sz="1350" b="0" i="0">
                <a:solidFill>
                  <a:srgbClr val="586B78"/>
                </a:solidFill>
                <a:latin typeface="Arial"/>
                <a:ea typeface="Arial"/>
                <a:cs typeface="Arial"/>
              </a:defRPr>
            </a:defPPr>
          </a:lstStyle>
          <a:p>
            <a:pPr algn="l">
              <a:lnSpc>
                <a:spcPct val="100000"/>
              </a:lnSpc>
              <a:buNone/>
              <a:defRPr sz="1350" b="0" i="0">
                <a:solidFill>
                  <a:srgbClr val="586B78"/>
                </a:solidFill>
                <a:latin typeface="Arial"/>
                <a:ea typeface="Arial"/>
                <a:cs typeface="Arial"/>
              </a:defRPr>
            </a:pPr>
            <a:r>
              <a:rPr sz="1350" b="0" i="0">
                <a:solidFill>
                  <a:srgbClr val="586B78"/>
                </a:solidFill>
                <a:latin typeface="Arial"/>
                <a:ea typeface="Arial"/>
                <a:cs typeface="Arial"/>
              </a:rPr>
              <a:t>Category value and item volume are different measures. The seller PivotTable contains the ranked seller IDs; seller order counts may overlap across sellers.</a:t>
            </a:r>
          </a:p>
        </p:txBody>
      </p:sp>
    </p:spTree>
    <p:extLst>
      <p:ext uri="{BB962C8B-B14F-4D97-AF65-F5344CB8AC3E}">
        <p14:creationId xmlns:p14="http://schemas.microsoft.com/office/powerpoint/2010/main" val="5566891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65F2C24E-2D6A-46A4-A624-7C47AF1A3B30}"/>
              </a:ext>
            </a:extLst>
          </p:cNvPr>
          <p:cNvSpPr>
            <a:spLocks noGrp="1"/>
          </p:cNvSpPr>
          <p:nvPr/>
        </p:nvSpPr>
        <p:spPr>
          <a:xfrm>
            <a:off x="685800" y="257175"/>
            <a:ext cx="8572500" cy="209550"/>
          </a:xfrm>
          <a:prstGeom prst="rect">
            <a:avLst/>
          </a:prstGeom>
          <a:noFill/>
          <a:ln w="0">
            <a:noFill/>
            <a:prstDash val="solid"/>
          </a:ln>
        </p:spPr>
        <p:txBody>
          <a:bodyPr wrap="square" lIns="0" tIns="0" rIns="0" bIns="0" anchor="t">
            <a:normAutofit/>
          </a:bodyPr>
          <a:lstStyle>
            <a:defPPr algn="l">
              <a:defRPr sz="1050" b="1" i="0">
                <a:solidFill>
                  <a:srgbClr val="147D82"/>
                </a:solidFill>
                <a:latin typeface="Arial"/>
                <a:ea typeface="Arial"/>
                <a:cs typeface="Arial"/>
              </a:defRPr>
            </a:defPPr>
          </a:lstStyle>
          <a:p>
            <a:pPr algn="l">
              <a:lnSpc>
                <a:spcPct val="100000"/>
              </a:lnSpc>
              <a:buNone/>
              <a:defRPr sz="1050" b="1" i="0">
                <a:solidFill>
                  <a:srgbClr val="147D82"/>
                </a:solidFill>
                <a:latin typeface="Arial"/>
                <a:ea typeface="Arial"/>
                <a:cs typeface="Arial"/>
              </a:defRPr>
            </a:pPr>
            <a:r>
              <a:rPr sz="1050" b="1" i="0">
                <a:solidFill>
                  <a:srgbClr val="147D82"/>
                </a:solidFill>
                <a:latin typeface="Arial"/>
                <a:ea typeface="Arial"/>
                <a:cs typeface="Arial"/>
              </a:rPr>
              <a:t>PAYMENT METHODS</a:t>
            </a:r>
          </a:p>
        </p:txBody>
      </p:sp>
      <p:sp>
        <p:nvSpPr>
          <p:cNvPr id="2" name="slide-title">
            <a:extLst>
              <a:ext uri="{FF2B5EF4-FFF2-40B4-BE49-F238E27FC236}">
                <a16:creationId xmlns:a16="http://schemas.microsoft.com/office/drawing/2014/main" id="{84A32AA7-7C8C-4029-8CF5-7FDB5FFF2B22}"/>
              </a:ext>
            </a:extLst>
          </p:cNvPr>
          <p:cNvSpPr>
            <a:spLocks noGrp="1"/>
          </p:cNvSpPr>
          <p:nvPr/>
        </p:nvSpPr>
        <p:spPr>
          <a:xfrm>
            <a:off x="685800" y="552450"/>
            <a:ext cx="10820400" cy="552450"/>
          </a:xfrm>
          <a:prstGeom prst="rect">
            <a:avLst/>
          </a:prstGeom>
          <a:noFill/>
          <a:ln w="0">
            <a:noFill/>
            <a:prstDash val="solid"/>
          </a:ln>
        </p:spPr>
        <p:txBody>
          <a:bodyPr wrap="square" lIns="0" tIns="0" rIns="0" bIns="0" anchor="t">
            <a:normAutofit/>
          </a:bodyPr>
          <a:lstStyle>
            <a:defPPr algn="l">
              <a:defRPr sz="3225" b="1" i="0">
                <a:solidFill>
                  <a:srgbClr val="12304A"/>
                </a:solidFill>
                <a:latin typeface="Arial"/>
                <a:ea typeface="Arial"/>
                <a:cs typeface="Arial"/>
              </a:defRPr>
            </a:defPPr>
          </a:lstStyle>
          <a:p>
            <a:pPr algn="l">
              <a:lnSpc>
                <a:spcPct val="100000"/>
              </a:lnSpc>
              <a:buNone/>
              <a:defRPr sz="3225" b="1" i="0">
                <a:solidFill>
                  <a:srgbClr val="12304A"/>
                </a:solidFill>
                <a:latin typeface="Arial"/>
                <a:ea typeface="Arial"/>
                <a:cs typeface="Arial"/>
              </a:defRPr>
            </a:pPr>
            <a:r>
              <a:rPr sz="3225" b="1" i="0">
                <a:solidFill>
                  <a:srgbClr val="12304A"/>
                </a:solidFill>
                <a:latin typeface="Arial"/>
                <a:ea typeface="Arial"/>
                <a:cs typeface="Arial"/>
              </a:rPr>
              <a:t>Payment records</a:t>
            </a:r>
          </a:p>
        </p:txBody>
      </p:sp>
      <p:sp>
        <p:nvSpPr>
          <p:cNvPr id="3" name="footer">
            <a:extLst>
              <a:ext uri="{FF2B5EF4-FFF2-40B4-BE49-F238E27FC236}">
                <a16:creationId xmlns:a16="http://schemas.microsoft.com/office/drawing/2014/main" id="{E340DFA3-A32B-408C-BDED-98F2367B74F3}"/>
              </a:ext>
            </a:extLst>
          </p:cNvPr>
          <p:cNvSpPr>
            <a:spLocks noGrp="1"/>
          </p:cNvSpPr>
          <p:nvPr/>
        </p:nvSpPr>
        <p:spPr>
          <a:xfrm>
            <a:off x="685800" y="6477000"/>
            <a:ext cx="8572500" cy="209550"/>
          </a:xfrm>
          <a:prstGeom prst="rect">
            <a:avLst/>
          </a:prstGeom>
          <a:noFill/>
          <a:ln w="0">
            <a:noFill/>
            <a:prstDash val="solid"/>
          </a:ln>
        </p:spPr>
        <p:txBody>
          <a:bodyPr wrap="square" lIns="0" tIns="0" rIns="0" bIns="0" anchor="t">
            <a:normAutofit/>
          </a:bodyPr>
          <a:lstStyle>
            <a:defPPr algn="l">
              <a:defRPr sz="1050" b="0" i="0">
                <a:solidFill>
                  <a:srgbClr val="586B78"/>
                </a:solidFill>
                <a:latin typeface="Arial"/>
                <a:ea typeface="Arial"/>
                <a:cs typeface="Arial"/>
              </a:defRPr>
            </a:defPPr>
          </a:lstStyle>
          <a:p>
            <a:pPr algn="l">
              <a:lnSpc>
                <a:spcPct val="100000"/>
              </a:lnSpc>
              <a:buNone/>
              <a:defRPr sz="1050" b="0" i="0">
                <a:solidFill>
                  <a:srgbClr val="586B78"/>
                </a:solidFill>
                <a:latin typeface="Arial"/>
                <a:ea typeface="Arial"/>
                <a:cs typeface="Arial"/>
              </a:defRPr>
            </a:pPr>
            <a:r>
              <a:rPr sz="1050" b="0" i="0">
                <a:solidFill>
                  <a:srgbClr val="586B78"/>
                </a:solidFill>
                <a:latin typeface="Arial"/>
                <a:ea typeface="Arial"/>
                <a:cs typeface="Arial"/>
              </a:rPr>
              <a:t>Historical Olist records | 4 Sep 2016–17 Oct 2018</a:t>
            </a:r>
          </a:p>
        </p:txBody>
      </p:sp>
      <p:sp>
        <p:nvSpPr>
          <p:cNvPr id="4" name="payment-lead">
            <a:extLst>
              <a:ext uri="{FF2B5EF4-FFF2-40B4-BE49-F238E27FC236}">
                <a16:creationId xmlns:a16="http://schemas.microsoft.com/office/drawing/2014/main" id="{59013985-2A25-40E6-B499-63D0F1926250}"/>
              </a:ext>
            </a:extLst>
          </p:cNvPr>
          <p:cNvSpPr>
            <a:spLocks noGrp="1"/>
          </p:cNvSpPr>
          <p:nvPr/>
        </p:nvSpPr>
        <p:spPr>
          <a:xfrm>
            <a:off x="742950" y="1352550"/>
            <a:ext cx="10668000" cy="552450"/>
          </a:xfrm>
          <a:prstGeom prst="rect">
            <a:avLst/>
          </a:prstGeom>
          <a:noFill/>
          <a:ln w="0">
            <a:noFill/>
            <a:prstDash val="solid"/>
          </a:ln>
        </p:spPr>
        <p:txBody>
          <a:bodyPr wrap="square" lIns="0" tIns="0" rIns="0" bIns="0" anchor="t">
            <a:normAutofit/>
          </a:bodyPr>
          <a:lstStyle>
            <a:defPPr algn="l">
              <a:defRPr sz="1950" b="1" i="0">
                <a:solidFill>
                  <a:srgbClr val="22313D"/>
                </a:solidFill>
                <a:latin typeface="Arial"/>
                <a:ea typeface="Arial"/>
                <a:cs typeface="Arial"/>
              </a:defRPr>
            </a:defPPr>
          </a:lstStyle>
          <a:p>
            <a:pPr algn="l">
              <a:lnSpc>
                <a:spcPct val="100000"/>
              </a:lnSpc>
              <a:buNone/>
              <a:defRPr sz="1950" b="1" i="0">
                <a:solidFill>
                  <a:srgbClr val="22313D"/>
                </a:solidFill>
                <a:latin typeface="Arial"/>
                <a:ea typeface="Arial"/>
                <a:cs typeface="Arial"/>
              </a:defRPr>
            </a:pPr>
            <a:r>
              <a:rPr sz="1950" b="1" i="0">
                <a:solidFill>
                  <a:srgbClr val="22313D"/>
                </a:solidFill>
                <a:latin typeface="Arial"/>
                <a:ea typeface="Arial"/>
                <a:cs typeface="Arial"/>
              </a:rPr>
              <a:t>Recorded payment value totals 16,008,872.12 across 103,886 payment rows.</a:t>
            </a:r>
          </a:p>
        </p:txBody>
      </p:sp>
      <p:graphicFrame>
        <p:nvGraphicFramePr>
          <p:cNvPr id="5" name="Chart">
            <a:extLst>
              <a:ext uri="{FF2B5EF4-FFF2-40B4-BE49-F238E27FC236}">
                <a16:creationId xmlns:a16="http://schemas.microsoft.com/office/drawing/2014/main" id="{2B3FB138-501A-4CBB-8E1D-15009112511E}"/>
              </a:ext>
            </a:extLst>
          </p:cNvPr>
          <p:cNvGraphicFramePr/>
          <p:nvPr/>
        </p:nvGraphicFramePr>
        <p:xfrm>
          <a:off x="723900" y="2095500"/>
          <a:ext cx="7429500"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6" name="payment-note">
            <a:extLst>
              <a:ext uri="{FF2B5EF4-FFF2-40B4-BE49-F238E27FC236}">
                <a16:creationId xmlns:a16="http://schemas.microsoft.com/office/drawing/2014/main" id="{1DCE493E-07AF-4576-A4CB-02D8648F83CB}"/>
              </a:ext>
            </a:extLst>
          </p:cNvPr>
          <p:cNvSpPr>
            <a:spLocks noGrp="1"/>
          </p:cNvSpPr>
          <p:nvPr/>
        </p:nvSpPr>
        <p:spPr>
          <a:xfrm>
            <a:off x="8620125" y="2381250"/>
            <a:ext cx="2809875" cy="2857500"/>
          </a:xfrm>
          <a:prstGeom prst="rect">
            <a:avLst/>
          </a:prstGeom>
          <a:noFill/>
          <a:ln w="0">
            <a:noFill/>
            <a:prstDash val="solid"/>
          </a:ln>
        </p:spPr>
        <p:txBody>
          <a:bodyPr wrap="square" lIns="0" tIns="0" rIns="0" bIns="0" anchor="t">
            <a:normAutofit/>
          </a:bodyPr>
          <a:lstStyle>
            <a:defPPr algn="l">
              <a:defRPr sz="1650" b="0" i="0">
                <a:solidFill>
                  <a:srgbClr val="22313D"/>
                </a:solidFill>
                <a:latin typeface="Arial"/>
                <a:ea typeface="Arial"/>
                <a:cs typeface="Arial"/>
              </a:defRPr>
            </a:defPPr>
          </a:lstStyle>
          <a:p>
            <a:pPr algn="l">
              <a:lnSpc>
                <a:spcPct val="116000"/>
              </a:lnSpc>
              <a:buNone/>
              <a:defRPr sz="1650" b="0" i="0">
                <a:solidFill>
                  <a:srgbClr val="22313D"/>
                </a:solidFill>
                <a:latin typeface="Arial"/>
                <a:ea typeface="Arial"/>
                <a:cs typeface="Arial"/>
              </a:defRPr>
            </a:pPr>
            <a:r>
              <a:rPr sz="1650" b="0" i="0">
                <a:solidFill>
                  <a:srgbClr val="22313D"/>
                </a:solidFill>
                <a:latin typeface="Arial"/>
                <a:ea typeface="Arial"/>
                <a:cs typeface="Arial"/>
              </a:rPr>
              <a:t>Payment rows</a:t>
            </a:r>
          </a:p>
          <a:p>
            <a:pPr algn="l">
              <a:lnSpc>
                <a:spcPct val="116000"/>
              </a:lnSpc>
              <a:buNone/>
              <a:defRPr sz="1650" b="0" i="0">
                <a:solidFill>
                  <a:srgbClr val="22313D"/>
                </a:solidFill>
                <a:latin typeface="Arial"/>
                <a:ea typeface="Arial"/>
                <a:cs typeface="Arial"/>
              </a:defRPr>
            </a:pPr>
            <a:r>
              <a:rPr sz="1650" b="0" i="0">
                <a:solidFill>
                  <a:srgbClr val="22313D"/>
                </a:solidFill>
                <a:latin typeface="Arial"/>
                <a:ea typeface="Arial"/>
                <a:cs typeface="Arial"/>
              </a:rPr>
              <a:t>Credit card 76,795</a:t>
            </a:r>
          </a:p>
          <a:p>
            <a:pPr algn="l">
              <a:lnSpc>
                <a:spcPct val="116000"/>
              </a:lnSpc>
              <a:buNone/>
              <a:defRPr sz="1650" b="0" i="0">
                <a:solidFill>
                  <a:srgbClr val="22313D"/>
                </a:solidFill>
                <a:latin typeface="Arial"/>
                <a:ea typeface="Arial"/>
                <a:cs typeface="Arial"/>
              </a:defRPr>
            </a:pPr>
            <a:r>
              <a:rPr sz="1650" b="0" i="0">
                <a:solidFill>
                  <a:srgbClr val="22313D"/>
                </a:solidFill>
                <a:latin typeface="Arial"/>
                <a:ea typeface="Arial"/>
                <a:cs typeface="Arial"/>
              </a:rPr>
              <a:t>Boleto 19,784</a:t>
            </a:r>
          </a:p>
          <a:p>
            <a:pPr algn="l">
              <a:lnSpc>
                <a:spcPct val="116000"/>
              </a:lnSpc>
              <a:buNone/>
              <a:defRPr sz="1650" b="0" i="0">
                <a:solidFill>
                  <a:srgbClr val="22313D"/>
                </a:solidFill>
                <a:latin typeface="Arial"/>
                <a:ea typeface="Arial"/>
                <a:cs typeface="Arial"/>
              </a:defRPr>
            </a:pPr>
            <a:r>
              <a:rPr sz="1650" b="0" i="0">
                <a:solidFill>
                  <a:srgbClr val="22313D"/>
                </a:solidFill>
                <a:latin typeface="Arial"/>
                <a:ea typeface="Arial"/>
                <a:cs typeface="Arial"/>
              </a:rPr>
              <a:t>Voucher 5,775</a:t>
            </a:r>
          </a:p>
          <a:p>
            <a:pPr algn="l">
              <a:lnSpc>
                <a:spcPct val="116000"/>
              </a:lnSpc>
              <a:buNone/>
              <a:defRPr sz="1650" b="0" i="0">
                <a:solidFill>
                  <a:srgbClr val="22313D"/>
                </a:solidFill>
                <a:latin typeface="Arial"/>
                <a:ea typeface="Arial"/>
                <a:cs typeface="Arial"/>
              </a:defRPr>
            </a:pPr>
            <a:r>
              <a:rPr sz="1650" b="0" i="0">
                <a:solidFill>
                  <a:srgbClr val="22313D"/>
                </a:solidFill>
                <a:latin typeface="Arial"/>
                <a:ea typeface="Arial"/>
                <a:cs typeface="Arial"/>
              </a:rPr>
              <a:t>Debit card 1,529</a:t>
            </a:r>
          </a:p>
          <a:p>
            <a:pPr algn="l">
              <a:lnSpc>
                <a:spcPct val="116000"/>
              </a:lnSpc>
              <a:buNone/>
              <a:defRPr sz="1650" b="0" i="0">
                <a:solidFill>
                  <a:srgbClr val="22313D"/>
                </a:solidFill>
                <a:latin typeface="Arial"/>
                <a:ea typeface="Arial"/>
                <a:cs typeface="Arial"/>
              </a:defRPr>
            </a:pPr>
            <a:r>
              <a:rPr sz="1650" b="0" i="0">
                <a:solidFill>
                  <a:srgbClr val="22313D"/>
                </a:solidFill>
                <a:latin typeface="Arial"/>
                <a:ea typeface="Arial"/>
                <a:cs typeface="Arial"/>
              </a:rPr>
              <a:t>Not defined 3 rows, value 0.00</a:t>
            </a:r>
          </a:p>
        </p:txBody>
      </p:sp>
      <p:sp>
        <p:nvSpPr>
          <p:cNvPr id="7" name="payment-caveat">
            <a:extLst>
              <a:ext uri="{FF2B5EF4-FFF2-40B4-BE49-F238E27FC236}">
                <a16:creationId xmlns:a16="http://schemas.microsoft.com/office/drawing/2014/main" id="{EC8917C2-0535-4D6A-A0DC-BA6702F2416A}"/>
              </a:ext>
            </a:extLst>
          </p:cNvPr>
          <p:cNvSpPr>
            <a:spLocks noGrp="1"/>
          </p:cNvSpPr>
          <p:nvPr/>
        </p:nvSpPr>
        <p:spPr>
          <a:xfrm>
            <a:off x="762000" y="5905500"/>
            <a:ext cx="10572750" cy="323850"/>
          </a:xfrm>
          <a:prstGeom prst="rect">
            <a:avLst/>
          </a:prstGeom>
          <a:noFill/>
          <a:ln w="0">
            <a:noFill/>
            <a:prstDash val="solid"/>
          </a:ln>
        </p:spPr>
        <p:txBody>
          <a:bodyPr wrap="square" lIns="0" tIns="0" rIns="0" bIns="0" anchor="t">
            <a:normAutofit/>
          </a:bodyPr>
          <a:lstStyle>
            <a:defPPr algn="l">
              <a:defRPr sz="1350" b="0" i="0">
                <a:solidFill>
                  <a:srgbClr val="586B78"/>
                </a:solidFill>
                <a:latin typeface="Arial"/>
                <a:ea typeface="Arial"/>
                <a:cs typeface="Arial"/>
              </a:defRPr>
            </a:defPPr>
          </a:lstStyle>
          <a:p>
            <a:pPr algn="l">
              <a:lnSpc>
                <a:spcPct val="100000"/>
              </a:lnSpc>
              <a:buNone/>
              <a:defRPr sz="1350" b="0" i="0">
                <a:solidFill>
                  <a:srgbClr val="586B78"/>
                </a:solidFill>
                <a:latin typeface="Arial"/>
                <a:ea typeface="Arial"/>
                <a:cs typeface="Arial"/>
              </a:defRPr>
            </a:pPr>
            <a:r>
              <a:rPr sz="1350" b="0" i="0">
                <a:solidFill>
                  <a:srgbClr val="586B78"/>
                </a:solidFill>
                <a:latin typeface="Arial"/>
                <a:ea typeface="Arial"/>
                <a:cs typeface="Arial"/>
              </a:rPr>
              <a:t>Payment value and delivered item price come from different tables and record grains; they are not interchangeable sales measures.</a:t>
            </a:r>
          </a:p>
        </p:txBody>
      </p:sp>
    </p:spTree>
    <p:extLst>
      <p:ext uri="{BB962C8B-B14F-4D97-AF65-F5344CB8AC3E}">
        <p14:creationId xmlns:p14="http://schemas.microsoft.com/office/powerpoint/2010/main" val="13958538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BF04D2C5-8F2B-4D16-B6E1-E15499B8769B}"/>
              </a:ext>
            </a:extLst>
          </p:cNvPr>
          <p:cNvSpPr>
            <a:spLocks noGrp="1"/>
          </p:cNvSpPr>
          <p:nvPr/>
        </p:nvSpPr>
        <p:spPr>
          <a:xfrm>
            <a:off x="685800" y="257175"/>
            <a:ext cx="8572500" cy="209550"/>
          </a:xfrm>
          <a:prstGeom prst="rect">
            <a:avLst/>
          </a:prstGeom>
          <a:noFill/>
          <a:ln w="0">
            <a:noFill/>
            <a:prstDash val="solid"/>
          </a:ln>
        </p:spPr>
        <p:txBody>
          <a:bodyPr wrap="square" lIns="0" tIns="0" rIns="0" bIns="0" anchor="t">
            <a:normAutofit/>
          </a:bodyPr>
          <a:lstStyle>
            <a:defPPr algn="l">
              <a:defRPr sz="1050" b="1" i="0">
                <a:solidFill>
                  <a:srgbClr val="147D82"/>
                </a:solidFill>
                <a:latin typeface="Arial"/>
                <a:ea typeface="Arial"/>
                <a:cs typeface="Arial"/>
              </a:defRPr>
            </a:defPPr>
          </a:lstStyle>
          <a:p>
            <a:pPr algn="l">
              <a:lnSpc>
                <a:spcPct val="100000"/>
              </a:lnSpc>
              <a:buNone/>
              <a:defRPr sz="1050" b="1" i="0">
                <a:solidFill>
                  <a:srgbClr val="147D82"/>
                </a:solidFill>
                <a:latin typeface="Arial"/>
                <a:ea typeface="Arial"/>
                <a:cs typeface="Arial"/>
              </a:defRPr>
            </a:pPr>
            <a:r>
              <a:rPr sz="1050" b="1" i="0">
                <a:solidFill>
                  <a:srgbClr val="147D82"/>
                </a:solidFill>
                <a:latin typeface="Arial"/>
                <a:ea typeface="Arial"/>
                <a:cs typeface="Arial"/>
              </a:rPr>
              <a:t>CUSTOMER EXPERIENCE</a:t>
            </a:r>
          </a:p>
        </p:txBody>
      </p:sp>
      <p:sp>
        <p:nvSpPr>
          <p:cNvPr id="2" name="slide-title">
            <a:extLst>
              <a:ext uri="{FF2B5EF4-FFF2-40B4-BE49-F238E27FC236}">
                <a16:creationId xmlns:a16="http://schemas.microsoft.com/office/drawing/2014/main" id="{F8CC0DA4-11F0-485E-87AA-A0A4CB5675C4}"/>
              </a:ext>
            </a:extLst>
          </p:cNvPr>
          <p:cNvSpPr>
            <a:spLocks noGrp="1"/>
          </p:cNvSpPr>
          <p:nvPr/>
        </p:nvSpPr>
        <p:spPr>
          <a:xfrm>
            <a:off x="685800" y="552450"/>
            <a:ext cx="10820400" cy="552450"/>
          </a:xfrm>
          <a:prstGeom prst="rect">
            <a:avLst/>
          </a:prstGeom>
          <a:noFill/>
          <a:ln w="0">
            <a:noFill/>
            <a:prstDash val="solid"/>
          </a:ln>
        </p:spPr>
        <p:txBody>
          <a:bodyPr wrap="square" lIns="0" tIns="0" rIns="0" bIns="0" anchor="t">
            <a:normAutofit/>
          </a:bodyPr>
          <a:lstStyle>
            <a:defPPr algn="l">
              <a:defRPr sz="3225" b="1" i="0">
                <a:solidFill>
                  <a:srgbClr val="12304A"/>
                </a:solidFill>
                <a:latin typeface="Arial"/>
                <a:ea typeface="Arial"/>
                <a:cs typeface="Arial"/>
              </a:defRPr>
            </a:defPPr>
          </a:lstStyle>
          <a:p>
            <a:pPr algn="l">
              <a:lnSpc>
                <a:spcPct val="100000"/>
              </a:lnSpc>
              <a:buNone/>
              <a:defRPr sz="3225" b="1" i="0">
                <a:solidFill>
                  <a:srgbClr val="12304A"/>
                </a:solidFill>
                <a:latin typeface="Arial"/>
                <a:ea typeface="Arial"/>
                <a:cs typeface="Arial"/>
              </a:defRPr>
            </a:pPr>
            <a:r>
              <a:rPr sz="3225" b="1" i="0">
                <a:solidFill>
                  <a:srgbClr val="12304A"/>
                </a:solidFill>
                <a:latin typeface="Arial"/>
                <a:ea typeface="Arial"/>
                <a:cs typeface="Arial"/>
              </a:rPr>
              <a:t>Delivery and customer feedback</a:t>
            </a:r>
          </a:p>
        </p:txBody>
      </p:sp>
      <p:sp>
        <p:nvSpPr>
          <p:cNvPr id="3" name="footer">
            <a:extLst>
              <a:ext uri="{FF2B5EF4-FFF2-40B4-BE49-F238E27FC236}">
                <a16:creationId xmlns:a16="http://schemas.microsoft.com/office/drawing/2014/main" id="{0D457A9C-F8A9-45A7-B3FF-04FBEF31BAA3}"/>
              </a:ext>
            </a:extLst>
          </p:cNvPr>
          <p:cNvSpPr>
            <a:spLocks noGrp="1"/>
          </p:cNvSpPr>
          <p:nvPr/>
        </p:nvSpPr>
        <p:spPr>
          <a:xfrm>
            <a:off x="685800" y="6477000"/>
            <a:ext cx="8572500" cy="209550"/>
          </a:xfrm>
          <a:prstGeom prst="rect">
            <a:avLst/>
          </a:prstGeom>
          <a:noFill/>
          <a:ln w="0">
            <a:noFill/>
            <a:prstDash val="solid"/>
          </a:ln>
        </p:spPr>
        <p:txBody>
          <a:bodyPr wrap="square" lIns="0" tIns="0" rIns="0" bIns="0" anchor="t">
            <a:normAutofit/>
          </a:bodyPr>
          <a:lstStyle>
            <a:defPPr algn="l">
              <a:defRPr sz="1050" b="0" i="0">
                <a:solidFill>
                  <a:srgbClr val="586B78"/>
                </a:solidFill>
                <a:latin typeface="Arial"/>
                <a:ea typeface="Arial"/>
                <a:cs typeface="Arial"/>
              </a:defRPr>
            </a:defPPr>
          </a:lstStyle>
          <a:p>
            <a:pPr algn="l">
              <a:lnSpc>
                <a:spcPct val="100000"/>
              </a:lnSpc>
              <a:buNone/>
              <a:defRPr sz="1050" b="0" i="0">
                <a:solidFill>
                  <a:srgbClr val="586B78"/>
                </a:solidFill>
                <a:latin typeface="Arial"/>
                <a:ea typeface="Arial"/>
                <a:cs typeface="Arial"/>
              </a:defRPr>
            </a:pPr>
            <a:r>
              <a:rPr sz="1050" b="0" i="0">
                <a:solidFill>
                  <a:srgbClr val="586B78"/>
                </a:solidFill>
                <a:latin typeface="Arial"/>
                <a:ea typeface="Arial"/>
                <a:cs typeface="Arial"/>
              </a:rPr>
              <a:t>Historical Olist records | 4 Sep 2016–17 Oct 2018</a:t>
            </a:r>
          </a:p>
        </p:txBody>
      </p:sp>
      <p:sp>
        <p:nvSpPr>
          <p:cNvPr id="4" name="experience-delivery">
            <a:extLst>
              <a:ext uri="{FF2B5EF4-FFF2-40B4-BE49-F238E27FC236}">
                <a16:creationId xmlns:a16="http://schemas.microsoft.com/office/drawing/2014/main" id="{ABD814B4-44F7-4160-A78D-CC2197F77A3E}"/>
              </a:ext>
            </a:extLst>
          </p:cNvPr>
          <p:cNvSpPr>
            <a:spLocks noGrp="1"/>
          </p:cNvSpPr>
          <p:nvPr/>
        </p:nvSpPr>
        <p:spPr>
          <a:xfrm>
            <a:off x="685800" y="1381125"/>
            <a:ext cx="4953000" cy="1190625"/>
          </a:xfrm>
          <a:prstGeom prst="rect">
            <a:avLst/>
          </a:prstGeom>
          <a:noFill/>
          <a:ln w="0">
            <a:noFill/>
            <a:prstDash val="solid"/>
          </a:ln>
        </p:spPr>
        <p:txBody>
          <a:bodyPr wrap="square" lIns="0" tIns="0" rIns="0" bIns="0" anchor="t">
            <a:normAutofit/>
          </a:bodyPr>
          <a:lstStyle>
            <a:defPPr algn="l">
              <a:defRPr sz="1800" b="1" i="0">
                <a:solidFill>
                  <a:srgbClr val="12304A"/>
                </a:solidFill>
                <a:latin typeface="Arial"/>
                <a:ea typeface="Arial"/>
                <a:cs typeface="Arial"/>
              </a:defRPr>
            </a:defPPr>
          </a:lstStyle>
          <a:p>
            <a:pPr algn="l">
              <a:lnSpc>
                <a:spcPct val="108000"/>
              </a:lnSpc>
              <a:buNone/>
              <a:defRPr sz="1800" b="1" i="0">
                <a:solidFill>
                  <a:srgbClr val="12304A"/>
                </a:solidFill>
                <a:latin typeface="Arial"/>
                <a:ea typeface="Arial"/>
                <a:cs typeface="Arial"/>
              </a:defRPr>
            </a:pPr>
            <a:r>
              <a:rPr sz="1800" b="1" i="0" dirty="0">
                <a:solidFill>
                  <a:srgbClr val="12304A"/>
                </a:solidFill>
                <a:latin typeface="Arial"/>
                <a:ea typeface="Arial"/>
                <a:cs typeface="Arial"/>
              </a:rPr>
              <a:t>91.9% on time</a:t>
            </a:r>
          </a:p>
          <a:p>
            <a:pPr algn="l">
              <a:lnSpc>
                <a:spcPct val="108000"/>
              </a:lnSpc>
              <a:buNone/>
              <a:defRPr sz="1800" b="1" i="0">
                <a:solidFill>
                  <a:srgbClr val="12304A"/>
                </a:solidFill>
                <a:latin typeface="Arial"/>
                <a:ea typeface="Arial"/>
                <a:cs typeface="Arial"/>
              </a:defRPr>
            </a:pPr>
            <a:r>
              <a:rPr sz="1800" b="1" i="0" dirty="0">
                <a:solidFill>
                  <a:srgbClr val="12304A"/>
                </a:solidFill>
                <a:latin typeface="Arial"/>
                <a:ea typeface="Arial"/>
                <a:cs typeface="Arial"/>
              </a:rPr>
              <a:t>88,644 of 96,470 eligible delivered orders</a:t>
            </a:r>
          </a:p>
          <a:p>
            <a:pPr algn="l">
              <a:lnSpc>
                <a:spcPct val="108000"/>
              </a:lnSpc>
              <a:buNone/>
              <a:defRPr sz="1800" b="1" i="0">
                <a:solidFill>
                  <a:srgbClr val="12304A"/>
                </a:solidFill>
                <a:latin typeface="Arial"/>
                <a:ea typeface="Arial"/>
                <a:cs typeface="Arial"/>
              </a:defRPr>
            </a:pPr>
            <a:r>
              <a:rPr sz="1800" b="1" i="0" dirty="0">
                <a:solidFill>
                  <a:srgbClr val="12304A"/>
                </a:solidFill>
                <a:latin typeface="Arial"/>
                <a:ea typeface="Arial"/>
                <a:cs typeface="Arial"/>
              </a:rPr>
              <a:t>7,826 late; 8 missing actual dates excluded</a:t>
            </a:r>
          </a:p>
        </p:txBody>
      </p:sp>
      <p:sp>
        <p:nvSpPr>
          <p:cNvPr id="5" name="experience-review">
            <a:extLst>
              <a:ext uri="{FF2B5EF4-FFF2-40B4-BE49-F238E27FC236}">
                <a16:creationId xmlns:a16="http://schemas.microsoft.com/office/drawing/2014/main" id="{CCA7FACE-CDC8-4959-8F65-BB3BCFCC2454}"/>
              </a:ext>
            </a:extLst>
          </p:cNvPr>
          <p:cNvSpPr>
            <a:spLocks noGrp="1"/>
          </p:cNvSpPr>
          <p:nvPr/>
        </p:nvSpPr>
        <p:spPr>
          <a:xfrm>
            <a:off x="6477000" y="1381125"/>
            <a:ext cx="4905375" cy="1047750"/>
          </a:xfrm>
          <a:prstGeom prst="rect">
            <a:avLst/>
          </a:prstGeom>
          <a:noFill/>
          <a:ln w="0">
            <a:noFill/>
            <a:prstDash val="solid"/>
          </a:ln>
        </p:spPr>
        <p:txBody>
          <a:bodyPr wrap="square" lIns="0" tIns="0" rIns="0" bIns="0" anchor="t">
            <a:normAutofit/>
          </a:bodyPr>
          <a:lstStyle>
            <a:defPPr algn="l">
              <a:defRPr sz="1800" b="1" i="0">
                <a:solidFill>
                  <a:srgbClr val="12304A"/>
                </a:solidFill>
                <a:latin typeface="Arial"/>
                <a:ea typeface="Arial"/>
                <a:cs typeface="Arial"/>
              </a:defRPr>
            </a:defPPr>
          </a:lstStyle>
          <a:p>
            <a:pPr algn="l">
              <a:lnSpc>
                <a:spcPct val="108000"/>
              </a:lnSpc>
              <a:buNone/>
              <a:defRPr sz="1800" b="1" i="0">
                <a:solidFill>
                  <a:srgbClr val="12304A"/>
                </a:solidFill>
                <a:latin typeface="Arial"/>
                <a:ea typeface="Arial"/>
                <a:cs typeface="Arial"/>
              </a:defRPr>
            </a:pPr>
            <a:r>
              <a:rPr sz="1800" b="1" i="0">
                <a:solidFill>
                  <a:srgbClr val="12304A"/>
                </a:solidFill>
                <a:latin typeface="Arial"/>
                <a:ea typeface="Arial"/>
                <a:cs typeface="Arial"/>
              </a:rPr>
              <a:t>Average review score</a:t>
            </a:r>
          </a:p>
          <a:p>
            <a:pPr algn="l">
              <a:lnSpc>
                <a:spcPct val="108000"/>
              </a:lnSpc>
              <a:buNone/>
              <a:defRPr sz="1800" b="1" i="0">
                <a:solidFill>
                  <a:srgbClr val="12304A"/>
                </a:solidFill>
                <a:latin typeface="Arial"/>
                <a:ea typeface="Arial"/>
                <a:cs typeface="Arial"/>
              </a:defRPr>
            </a:pPr>
            <a:r>
              <a:rPr sz="1800" b="1" i="0">
                <a:solidFill>
                  <a:srgbClr val="12304A"/>
                </a:solidFill>
                <a:latin typeface="Arial"/>
                <a:ea typeface="Arial"/>
                <a:cs typeface="Arial"/>
              </a:rPr>
              <a:t>4.09 out of 5</a:t>
            </a:r>
          </a:p>
          <a:p>
            <a:pPr algn="l">
              <a:lnSpc>
                <a:spcPct val="108000"/>
              </a:lnSpc>
              <a:buNone/>
              <a:defRPr sz="1800" b="1" i="0">
                <a:solidFill>
                  <a:srgbClr val="12304A"/>
                </a:solidFill>
                <a:latin typeface="Arial"/>
                <a:ea typeface="Arial"/>
                <a:cs typeface="Arial"/>
              </a:defRPr>
            </a:pPr>
            <a:r>
              <a:rPr sz="1800" b="1" i="0">
                <a:solidFill>
                  <a:srgbClr val="12304A"/>
                </a:solidFill>
                <a:latin typeface="Arial"/>
                <a:ea typeface="Arial"/>
                <a:cs typeface="Arial"/>
              </a:rPr>
              <a:t>99,224 review records</a:t>
            </a:r>
          </a:p>
        </p:txBody>
      </p:sp>
      <p:graphicFrame>
        <p:nvGraphicFramePr>
          <p:cNvPr id="6" name="Chart">
            <a:extLst>
              <a:ext uri="{FF2B5EF4-FFF2-40B4-BE49-F238E27FC236}">
                <a16:creationId xmlns:a16="http://schemas.microsoft.com/office/drawing/2014/main" id="{9264BA10-B934-4361-AFBD-635D0CD1D816}"/>
              </a:ext>
            </a:extLst>
          </p:cNvPr>
          <p:cNvGraphicFramePr/>
          <p:nvPr>
            <p:extLst>
              <p:ext uri="{D42A27DB-BD31-4B8C-83A1-F6EECF244321}">
                <p14:modId xmlns:p14="http://schemas.microsoft.com/office/powerpoint/2010/main" val="4208823445"/>
              </p:ext>
            </p:extLst>
          </p:nvPr>
        </p:nvGraphicFramePr>
        <p:xfrm>
          <a:off x="685800" y="2736449"/>
          <a:ext cx="5095875"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a:extLst>
              <a:ext uri="{FF2B5EF4-FFF2-40B4-BE49-F238E27FC236}">
                <a16:creationId xmlns:a16="http://schemas.microsoft.com/office/drawing/2014/main" id="{BF5F358E-91BC-4491-91DE-C9E3C0E1C1AA}"/>
              </a:ext>
            </a:extLst>
          </p:cNvPr>
          <p:cNvGraphicFramePr/>
          <p:nvPr>
            <p:extLst>
              <p:ext uri="{D42A27DB-BD31-4B8C-83A1-F6EECF244321}">
                <p14:modId xmlns:p14="http://schemas.microsoft.com/office/powerpoint/2010/main" val="3344172252"/>
              </p:ext>
            </p:extLst>
          </p:nvPr>
        </p:nvGraphicFramePr>
        <p:xfrm>
          <a:off x="6267450" y="2736449"/>
          <a:ext cx="5238750" cy="29527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716977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3EEBF92E-1765-433D-9F18-7484B07BE241}"/>
              </a:ext>
            </a:extLst>
          </p:cNvPr>
          <p:cNvSpPr>
            <a:spLocks noGrp="1"/>
          </p:cNvSpPr>
          <p:nvPr/>
        </p:nvSpPr>
        <p:spPr>
          <a:xfrm>
            <a:off x="685800" y="342900"/>
            <a:ext cx="8572500" cy="209550"/>
          </a:xfrm>
          <a:prstGeom prst="rect">
            <a:avLst/>
          </a:prstGeom>
          <a:noFill/>
          <a:ln w="0">
            <a:noFill/>
            <a:prstDash val="solid"/>
          </a:ln>
        </p:spPr>
        <p:txBody>
          <a:bodyPr wrap="square" lIns="0" tIns="0" rIns="0" bIns="0" anchor="t">
            <a:normAutofit/>
          </a:bodyPr>
          <a:lstStyle>
            <a:defPPr algn="l">
              <a:defRPr sz="1050" b="1" i="0">
                <a:solidFill>
                  <a:srgbClr val="147D82"/>
                </a:solidFill>
                <a:latin typeface="Arial"/>
                <a:ea typeface="Arial"/>
                <a:cs typeface="Arial"/>
              </a:defRPr>
            </a:defPPr>
          </a:lstStyle>
          <a:p>
            <a:pPr algn="l">
              <a:lnSpc>
                <a:spcPct val="100000"/>
              </a:lnSpc>
              <a:buNone/>
              <a:defRPr sz="1050" b="1" i="0">
                <a:solidFill>
                  <a:srgbClr val="147D82"/>
                </a:solidFill>
                <a:latin typeface="Arial"/>
                <a:ea typeface="Arial"/>
                <a:cs typeface="Arial"/>
              </a:defRPr>
            </a:pPr>
            <a:r>
              <a:rPr sz="1050" b="1" i="0">
                <a:solidFill>
                  <a:srgbClr val="147D82"/>
                </a:solidFill>
                <a:latin typeface="Arial"/>
                <a:ea typeface="Arial"/>
                <a:cs typeface="Arial"/>
              </a:rPr>
              <a:t>CUSTOMER BEHAVIOR</a:t>
            </a:r>
          </a:p>
        </p:txBody>
      </p:sp>
      <p:sp>
        <p:nvSpPr>
          <p:cNvPr id="2" name="slide-title">
            <a:extLst>
              <a:ext uri="{FF2B5EF4-FFF2-40B4-BE49-F238E27FC236}">
                <a16:creationId xmlns:a16="http://schemas.microsoft.com/office/drawing/2014/main" id="{B81F933A-80C7-4BB8-81A7-B43CAD32852F}"/>
              </a:ext>
            </a:extLst>
          </p:cNvPr>
          <p:cNvSpPr>
            <a:spLocks noGrp="1"/>
          </p:cNvSpPr>
          <p:nvPr/>
        </p:nvSpPr>
        <p:spPr>
          <a:xfrm>
            <a:off x="685800" y="881062"/>
            <a:ext cx="10820400" cy="552450"/>
          </a:xfrm>
          <a:prstGeom prst="rect">
            <a:avLst/>
          </a:prstGeom>
          <a:noFill/>
          <a:ln w="0">
            <a:noFill/>
            <a:prstDash val="solid"/>
          </a:ln>
        </p:spPr>
        <p:txBody>
          <a:bodyPr wrap="square" lIns="0" tIns="0" rIns="0" bIns="0" anchor="t">
            <a:normAutofit/>
          </a:bodyPr>
          <a:lstStyle>
            <a:defPPr algn="l">
              <a:defRPr sz="3225" b="1" i="0">
                <a:solidFill>
                  <a:srgbClr val="12304A"/>
                </a:solidFill>
                <a:latin typeface="Arial"/>
                <a:ea typeface="Arial"/>
                <a:cs typeface="Arial"/>
              </a:defRPr>
            </a:defPPr>
          </a:lstStyle>
          <a:p>
            <a:pPr algn="l">
              <a:lnSpc>
                <a:spcPct val="100000"/>
              </a:lnSpc>
              <a:buNone/>
              <a:defRPr sz="3225" b="1" i="0">
                <a:solidFill>
                  <a:srgbClr val="12304A"/>
                </a:solidFill>
                <a:latin typeface="Arial"/>
                <a:ea typeface="Arial"/>
                <a:cs typeface="Arial"/>
              </a:defRPr>
            </a:pPr>
            <a:r>
              <a:rPr sz="3225" b="1" i="0" dirty="0">
                <a:solidFill>
                  <a:srgbClr val="12304A"/>
                </a:solidFill>
                <a:latin typeface="Arial"/>
                <a:ea typeface="Arial"/>
                <a:cs typeface="Arial"/>
              </a:rPr>
              <a:t>Repeat purchasing in the observed period</a:t>
            </a:r>
          </a:p>
        </p:txBody>
      </p:sp>
      <p:sp>
        <p:nvSpPr>
          <p:cNvPr id="3" name="footer">
            <a:extLst>
              <a:ext uri="{FF2B5EF4-FFF2-40B4-BE49-F238E27FC236}">
                <a16:creationId xmlns:a16="http://schemas.microsoft.com/office/drawing/2014/main" id="{B97454E7-68DB-45DB-BC6E-2FC363E83085}"/>
              </a:ext>
            </a:extLst>
          </p:cNvPr>
          <p:cNvSpPr>
            <a:spLocks noGrp="1"/>
          </p:cNvSpPr>
          <p:nvPr/>
        </p:nvSpPr>
        <p:spPr>
          <a:xfrm>
            <a:off x="685800" y="6477000"/>
            <a:ext cx="8572500" cy="209550"/>
          </a:xfrm>
          <a:prstGeom prst="rect">
            <a:avLst/>
          </a:prstGeom>
          <a:noFill/>
          <a:ln w="0">
            <a:noFill/>
            <a:prstDash val="solid"/>
          </a:ln>
        </p:spPr>
        <p:txBody>
          <a:bodyPr wrap="square" lIns="0" tIns="0" rIns="0" bIns="0" anchor="t">
            <a:normAutofit/>
          </a:bodyPr>
          <a:lstStyle>
            <a:defPPr algn="l">
              <a:defRPr sz="1050" b="0" i="0">
                <a:solidFill>
                  <a:srgbClr val="586B78"/>
                </a:solidFill>
                <a:latin typeface="Arial"/>
                <a:ea typeface="Arial"/>
                <a:cs typeface="Arial"/>
              </a:defRPr>
            </a:defPPr>
          </a:lstStyle>
          <a:p>
            <a:pPr algn="l">
              <a:lnSpc>
                <a:spcPct val="100000"/>
              </a:lnSpc>
              <a:buNone/>
              <a:defRPr sz="1050" b="0" i="0">
                <a:solidFill>
                  <a:srgbClr val="586B78"/>
                </a:solidFill>
                <a:latin typeface="Arial"/>
                <a:ea typeface="Arial"/>
                <a:cs typeface="Arial"/>
              </a:defRPr>
            </a:pPr>
            <a:r>
              <a:rPr sz="1050" b="0" i="0">
                <a:solidFill>
                  <a:srgbClr val="586B78"/>
                </a:solidFill>
                <a:latin typeface="Arial"/>
                <a:ea typeface="Arial"/>
                <a:cs typeface="Arial"/>
              </a:rPr>
              <a:t>Historical Olist records | 4 Sep 2016–17 Oct 2018</a:t>
            </a:r>
          </a:p>
        </p:txBody>
      </p:sp>
      <p:sp>
        <p:nvSpPr>
          <p:cNvPr id="4" name="repeat-value">
            <a:extLst>
              <a:ext uri="{FF2B5EF4-FFF2-40B4-BE49-F238E27FC236}">
                <a16:creationId xmlns:a16="http://schemas.microsoft.com/office/drawing/2014/main" id="{AFD5188C-A0F4-4812-BE94-00C86F017DC2}"/>
              </a:ext>
            </a:extLst>
          </p:cNvPr>
          <p:cNvSpPr>
            <a:spLocks noGrp="1"/>
          </p:cNvSpPr>
          <p:nvPr/>
        </p:nvSpPr>
        <p:spPr>
          <a:xfrm>
            <a:off x="685800" y="1762124"/>
            <a:ext cx="3810000" cy="952500"/>
          </a:xfrm>
          <a:prstGeom prst="rect">
            <a:avLst/>
          </a:prstGeom>
          <a:noFill/>
          <a:ln w="0">
            <a:noFill/>
            <a:prstDash val="solid"/>
          </a:ln>
        </p:spPr>
        <p:txBody>
          <a:bodyPr wrap="square" lIns="0" tIns="0" rIns="0" bIns="0" anchor="t">
            <a:normAutofit/>
          </a:bodyPr>
          <a:lstStyle>
            <a:defPPr algn="l">
              <a:defRPr sz="5850" b="1" i="0">
                <a:solidFill>
                  <a:srgbClr val="147D82"/>
                </a:solidFill>
                <a:latin typeface="Arial"/>
                <a:ea typeface="Arial"/>
                <a:cs typeface="Arial"/>
              </a:defRPr>
            </a:defPPr>
          </a:lstStyle>
          <a:p>
            <a:pPr algn="l">
              <a:lnSpc>
                <a:spcPct val="100000"/>
              </a:lnSpc>
              <a:buNone/>
              <a:defRPr sz="5850" b="1" i="0">
                <a:solidFill>
                  <a:srgbClr val="147D82"/>
                </a:solidFill>
                <a:latin typeface="Arial"/>
                <a:ea typeface="Arial"/>
                <a:cs typeface="Arial"/>
              </a:defRPr>
            </a:pPr>
            <a:r>
              <a:rPr sz="5850" b="1" i="0" dirty="0">
                <a:solidFill>
                  <a:srgbClr val="147D82"/>
                </a:solidFill>
                <a:latin typeface="Arial"/>
                <a:ea typeface="Arial"/>
                <a:cs typeface="Arial"/>
              </a:rPr>
              <a:t>3.0%</a:t>
            </a:r>
          </a:p>
        </p:txBody>
      </p:sp>
      <p:sp>
        <p:nvSpPr>
          <p:cNvPr id="5" name="repeat-denominator">
            <a:extLst>
              <a:ext uri="{FF2B5EF4-FFF2-40B4-BE49-F238E27FC236}">
                <a16:creationId xmlns:a16="http://schemas.microsoft.com/office/drawing/2014/main" id="{8FC632B0-E130-4294-A1DC-EAFF151BBEFE}"/>
              </a:ext>
            </a:extLst>
          </p:cNvPr>
          <p:cNvSpPr>
            <a:spLocks noGrp="1"/>
          </p:cNvSpPr>
          <p:nvPr/>
        </p:nvSpPr>
        <p:spPr>
          <a:xfrm>
            <a:off x="685800" y="2845594"/>
            <a:ext cx="10287000" cy="809625"/>
          </a:xfrm>
          <a:prstGeom prst="rect">
            <a:avLst/>
          </a:prstGeom>
          <a:noFill/>
          <a:ln w="0">
            <a:noFill/>
            <a:prstDash val="solid"/>
          </a:ln>
        </p:spPr>
        <p:txBody>
          <a:bodyPr wrap="square" lIns="0" tIns="0" rIns="0" bIns="0" anchor="t">
            <a:normAutofit/>
          </a:bodyPr>
          <a:lstStyle>
            <a:defPPr algn="l">
              <a:defRPr sz="2325" b="1" i="0">
                <a:solidFill>
                  <a:srgbClr val="12304A"/>
                </a:solidFill>
                <a:latin typeface="Arial"/>
                <a:ea typeface="Arial"/>
                <a:cs typeface="Arial"/>
              </a:defRPr>
            </a:defPPr>
          </a:lstStyle>
          <a:p>
            <a:pPr algn="l">
              <a:lnSpc>
                <a:spcPct val="100000"/>
              </a:lnSpc>
              <a:buNone/>
              <a:defRPr sz="2325" b="1" i="0">
                <a:solidFill>
                  <a:srgbClr val="12304A"/>
                </a:solidFill>
                <a:latin typeface="Arial"/>
                <a:ea typeface="Arial"/>
                <a:cs typeface="Arial"/>
              </a:defRPr>
            </a:pPr>
            <a:r>
              <a:rPr sz="2325" b="1" i="0" dirty="0">
                <a:solidFill>
                  <a:srgbClr val="12304A"/>
                </a:solidFill>
                <a:latin typeface="Arial"/>
                <a:ea typeface="Arial"/>
                <a:cs typeface="Arial"/>
              </a:rPr>
              <a:t>2,801 of 93,358 delivered customers had at least two distinct delivered orders.</a:t>
            </a:r>
          </a:p>
        </p:txBody>
      </p:sp>
      <p:sp>
        <p:nvSpPr>
          <p:cNvPr id="6" name="repeat-definition">
            <a:extLst>
              <a:ext uri="{FF2B5EF4-FFF2-40B4-BE49-F238E27FC236}">
                <a16:creationId xmlns:a16="http://schemas.microsoft.com/office/drawing/2014/main" id="{EB5D3076-BEC9-4C90-BD77-8CFC9E77B6BB}"/>
              </a:ext>
            </a:extLst>
          </p:cNvPr>
          <p:cNvSpPr>
            <a:spLocks noGrp="1"/>
          </p:cNvSpPr>
          <p:nvPr/>
        </p:nvSpPr>
        <p:spPr>
          <a:xfrm>
            <a:off x="685800" y="3786189"/>
            <a:ext cx="10096500" cy="857250"/>
          </a:xfrm>
          <a:prstGeom prst="rect">
            <a:avLst/>
          </a:prstGeom>
          <a:noFill/>
          <a:ln w="0">
            <a:noFill/>
            <a:prstDash val="solid"/>
          </a:ln>
        </p:spPr>
        <p:txBody>
          <a:bodyPr wrap="square" lIns="0" tIns="0" rIns="0" bIns="0" anchor="t">
            <a:normAutofit/>
          </a:bodyPr>
          <a:lstStyle>
            <a:defPPr algn="l">
              <a:defRPr sz="1800" b="0" i="0">
                <a:solidFill>
                  <a:srgbClr val="22313D"/>
                </a:solidFill>
                <a:latin typeface="Arial"/>
                <a:ea typeface="Arial"/>
                <a:cs typeface="Arial"/>
              </a:defRPr>
            </a:defPPr>
          </a:lstStyle>
          <a:p>
            <a:pPr algn="l">
              <a:lnSpc>
                <a:spcPct val="100000"/>
              </a:lnSpc>
              <a:buNone/>
              <a:defRPr sz="1800" b="0" i="0">
                <a:solidFill>
                  <a:srgbClr val="22313D"/>
                </a:solidFill>
                <a:latin typeface="Arial"/>
                <a:ea typeface="Arial"/>
                <a:cs typeface="Arial"/>
              </a:defRPr>
            </a:pPr>
            <a:r>
              <a:rPr sz="1800" b="0" i="0" dirty="0">
                <a:solidFill>
                  <a:srgbClr val="22313D"/>
                </a:solidFill>
                <a:latin typeface="Arial"/>
                <a:ea typeface="Arial"/>
                <a:cs typeface="Arial"/>
              </a:rPr>
              <a:t>Customer identity was counted with </a:t>
            </a:r>
            <a:r>
              <a:rPr sz="1800" b="0" i="0" dirty="0" err="1">
                <a:solidFill>
                  <a:srgbClr val="22313D"/>
                </a:solidFill>
                <a:latin typeface="Arial"/>
                <a:ea typeface="Arial"/>
                <a:cs typeface="Arial"/>
              </a:rPr>
              <a:t>customer_unique_id</a:t>
            </a:r>
            <a:r>
              <a:rPr sz="1800" b="0" i="0" dirty="0">
                <a:solidFill>
                  <a:srgbClr val="22313D"/>
                </a:solidFill>
                <a:latin typeface="Arial"/>
                <a:ea typeface="Arial"/>
                <a:cs typeface="Arial"/>
              </a:rPr>
              <a:t>. </a:t>
            </a:r>
            <a:r>
              <a:rPr sz="1800" b="0" i="0" dirty="0" err="1">
                <a:solidFill>
                  <a:srgbClr val="22313D"/>
                </a:solidFill>
                <a:latin typeface="Arial"/>
                <a:ea typeface="Arial"/>
                <a:cs typeface="Arial"/>
              </a:rPr>
              <a:t>customer_id</a:t>
            </a:r>
            <a:r>
              <a:rPr sz="1800" b="0" i="0" dirty="0">
                <a:solidFill>
                  <a:srgbClr val="22313D"/>
                </a:solidFill>
                <a:latin typeface="Arial"/>
                <a:ea typeface="Arial"/>
                <a:cs typeface="Arial"/>
              </a:rPr>
              <a:t> links a customer row to an individual order and should not be used alone to identify a person across orders.</a:t>
            </a:r>
          </a:p>
        </p:txBody>
      </p:sp>
      <p:sp>
        <p:nvSpPr>
          <p:cNvPr id="7" name="repeat-limit">
            <a:extLst>
              <a:ext uri="{FF2B5EF4-FFF2-40B4-BE49-F238E27FC236}">
                <a16:creationId xmlns:a16="http://schemas.microsoft.com/office/drawing/2014/main" id="{BD398218-17EA-4F5C-8AED-9DC44660A533}"/>
              </a:ext>
            </a:extLst>
          </p:cNvPr>
          <p:cNvSpPr>
            <a:spLocks noGrp="1"/>
          </p:cNvSpPr>
          <p:nvPr/>
        </p:nvSpPr>
        <p:spPr>
          <a:xfrm>
            <a:off x="685800" y="4531519"/>
            <a:ext cx="10096500" cy="685800"/>
          </a:xfrm>
          <a:prstGeom prst="rect">
            <a:avLst/>
          </a:prstGeom>
          <a:noFill/>
          <a:ln w="0">
            <a:noFill/>
            <a:prstDash val="solid"/>
          </a:ln>
        </p:spPr>
        <p:txBody>
          <a:bodyPr wrap="square" lIns="0" tIns="0" rIns="0" bIns="0" anchor="t">
            <a:normAutofit/>
          </a:bodyPr>
          <a:lstStyle>
            <a:defPPr algn="l">
              <a:defRPr sz="1500" b="0" i="0">
                <a:solidFill>
                  <a:srgbClr val="586B78"/>
                </a:solidFill>
                <a:latin typeface="Arial"/>
                <a:ea typeface="Arial"/>
                <a:cs typeface="Arial"/>
              </a:defRPr>
            </a:defPPr>
          </a:lstStyle>
          <a:p>
            <a:pPr algn="l">
              <a:lnSpc>
                <a:spcPct val="100000"/>
              </a:lnSpc>
              <a:buNone/>
              <a:defRPr sz="1500" b="0" i="0">
                <a:solidFill>
                  <a:srgbClr val="586B78"/>
                </a:solidFill>
                <a:latin typeface="Arial"/>
                <a:ea typeface="Arial"/>
                <a:cs typeface="Arial"/>
              </a:defRPr>
            </a:pPr>
            <a:r>
              <a:rPr sz="1500" b="0" i="0" dirty="0">
                <a:solidFill>
                  <a:srgbClr val="586B78"/>
                </a:solidFill>
                <a:latin typeface="Arial"/>
                <a:ea typeface="Arial"/>
                <a:cs typeface="Arial"/>
              </a:rPr>
              <a:t>This is repeat purchasing observed inside the dataset's 2016–2018 window, not a long-run retention rate. A longer observation period and cohort analysis would be needed for a stronger retention measure.</a:t>
            </a:r>
          </a:p>
        </p:txBody>
      </p:sp>
    </p:spTree>
    <p:extLst>
      <p:ext uri="{BB962C8B-B14F-4D97-AF65-F5344CB8AC3E}">
        <p14:creationId xmlns:p14="http://schemas.microsoft.com/office/powerpoint/2010/main" val="20372754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70A2959B-46BC-4657-9DB7-DAB41884B4A4}"/>
              </a:ext>
            </a:extLst>
          </p:cNvPr>
          <p:cNvSpPr>
            <a:spLocks noGrp="1"/>
          </p:cNvSpPr>
          <p:nvPr/>
        </p:nvSpPr>
        <p:spPr>
          <a:xfrm>
            <a:off x="685800" y="257175"/>
            <a:ext cx="8572500" cy="209550"/>
          </a:xfrm>
          <a:prstGeom prst="rect">
            <a:avLst/>
          </a:prstGeom>
          <a:noFill/>
          <a:ln w="0">
            <a:noFill/>
            <a:prstDash val="solid"/>
          </a:ln>
        </p:spPr>
        <p:txBody>
          <a:bodyPr wrap="square" lIns="0" tIns="0" rIns="0" bIns="0" anchor="t">
            <a:normAutofit/>
          </a:bodyPr>
          <a:lstStyle>
            <a:defPPr algn="l">
              <a:defRPr sz="1050" b="1" i="0">
                <a:solidFill>
                  <a:srgbClr val="147D82"/>
                </a:solidFill>
                <a:latin typeface="Arial"/>
                <a:ea typeface="Arial"/>
                <a:cs typeface="Arial"/>
              </a:defRPr>
            </a:defPPr>
          </a:lstStyle>
          <a:p>
            <a:pPr algn="l">
              <a:lnSpc>
                <a:spcPct val="100000"/>
              </a:lnSpc>
              <a:buNone/>
              <a:defRPr sz="1050" b="1" i="0">
                <a:solidFill>
                  <a:srgbClr val="147D82"/>
                </a:solidFill>
                <a:latin typeface="Arial"/>
                <a:ea typeface="Arial"/>
                <a:cs typeface="Arial"/>
              </a:defRPr>
            </a:pPr>
            <a:r>
              <a:rPr sz="1050" b="1" i="0">
                <a:solidFill>
                  <a:srgbClr val="147D82"/>
                </a:solidFill>
                <a:latin typeface="Arial"/>
                <a:ea typeface="Arial"/>
                <a:cs typeface="Arial"/>
              </a:rPr>
              <a:t>INTERPRETATION</a:t>
            </a:r>
          </a:p>
        </p:txBody>
      </p:sp>
      <p:sp>
        <p:nvSpPr>
          <p:cNvPr id="2" name="slide-title">
            <a:extLst>
              <a:ext uri="{FF2B5EF4-FFF2-40B4-BE49-F238E27FC236}">
                <a16:creationId xmlns:a16="http://schemas.microsoft.com/office/drawing/2014/main" id="{1F2D8A0D-1FB2-476C-BEBA-94AAC91F3340}"/>
              </a:ext>
            </a:extLst>
          </p:cNvPr>
          <p:cNvSpPr>
            <a:spLocks noGrp="1"/>
          </p:cNvSpPr>
          <p:nvPr/>
        </p:nvSpPr>
        <p:spPr>
          <a:xfrm>
            <a:off x="685800" y="552450"/>
            <a:ext cx="10820400" cy="552450"/>
          </a:xfrm>
          <a:prstGeom prst="rect">
            <a:avLst/>
          </a:prstGeom>
          <a:noFill/>
          <a:ln w="0">
            <a:noFill/>
            <a:prstDash val="solid"/>
          </a:ln>
        </p:spPr>
        <p:txBody>
          <a:bodyPr wrap="square" lIns="0" tIns="0" rIns="0" bIns="0" anchor="t">
            <a:normAutofit/>
          </a:bodyPr>
          <a:lstStyle>
            <a:defPPr algn="l">
              <a:defRPr sz="3225" b="1" i="0">
                <a:solidFill>
                  <a:srgbClr val="12304A"/>
                </a:solidFill>
                <a:latin typeface="Arial"/>
                <a:ea typeface="Arial"/>
                <a:cs typeface="Arial"/>
              </a:defRPr>
            </a:defPPr>
          </a:lstStyle>
          <a:p>
            <a:pPr algn="l">
              <a:lnSpc>
                <a:spcPct val="100000"/>
              </a:lnSpc>
              <a:buNone/>
              <a:defRPr sz="3225" b="1" i="0">
                <a:solidFill>
                  <a:srgbClr val="12304A"/>
                </a:solidFill>
                <a:latin typeface="Arial"/>
                <a:ea typeface="Arial"/>
                <a:cs typeface="Arial"/>
              </a:defRPr>
            </a:pPr>
            <a:r>
              <a:rPr sz="3225" b="1" i="0">
                <a:solidFill>
                  <a:srgbClr val="12304A"/>
                </a:solidFill>
                <a:latin typeface="Arial"/>
                <a:ea typeface="Arial"/>
                <a:cs typeface="Arial"/>
              </a:rPr>
              <a:t>Practical next questions</a:t>
            </a:r>
          </a:p>
        </p:txBody>
      </p:sp>
      <p:sp>
        <p:nvSpPr>
          <p:cNvPr id="3" name="footer">
            <a:extLst>
              <a:ext uri="{FF2B5EF4-FFF2-40B4-BE49-F238E27FC236}">
                <a16:creationId xmlns:a16="http://schemas.microsoft.com/office/drawing/2014/main" id="{8E9D37FC-EAC0-4D37-A9EA-5A40EE5B7AF4}"/>
              </a:ext>
            </a:extLst>
          </p:cNvPr>
          <p:cNvSpPr>
            <a:spLocks noGrp="1"/>
          </p:cNvSpPr>
          <p:nvPr/>
        </p:nvSpPr>
        <p:spPr>
          <a:xfrm>
            <a:off x="685800" y="6477000"/>
            <a:ext cx="8572500" cy="209550"/>
          </a:xfrm>
          <a:prstGeom prst="rect">
            <a:avLst/>
          </a:prstGeom>
          <a:noFill/>
          <a:ln w="0">
            <a:noFill/>
            <a:prstDash val="solid"/>
          </a:ln>
        </p:spPr>
        <p:txBody>
          <a:bodyPr wrap="square" lIns="0" tIns="0" rIns="0" bIns="0" anchor="t">
            <a:normAutofit/>
          </a:bodyPr>
          <a:lstStyle>
            <a:defPPr algn="l">
              <a:defRPr sz="1050" b="0" i="0">
                <a:solidFill>
                  <a:srgbClr val="586B78"/>
                </a:solidFill>
                <a:latin typeface="Arial"/>
                <a:ea typeface="Arial"/>
                <a:cs typeface="Arial"/>
              </a:defRPr>
            </a:defPPr>
          </a:lstStyle>
          <a:p>
            <a:pPr algn="l">
              <a:lnSpc>
                <a:spcPct val="100000"/>
              </a:lnSpc>
              <a:buNone/>
              <a:defRPr sz="1050" b="0" i="0">
                <a:solidFill>
                  <a:srgbClr val="586B78"/>
                </a:solidFill>
                <a:latin typeface="Arial"/>
                <a:ea typeface="Arial"/>
                <a:cs typeface="Arial"/>
              </a:defRPr>
            </a:pPr>
            <a:r>
              <a:rPr sz="1050" b="0" i="0">
                <a:solidFill>
                  <a:srgbClr val="586B78"/>
                </a:solidFill>
                <a:latin typeface="Arial"/>
                <a:ea typeface="Arial"/>
                <a:cs typeface="Arial"/>
              </a:rPr>
              <a:t>Historical Olist records | 4 Sep 2016–17 Oct 2018</a:t>
            </a:r>
          </a:p>
        </p:txBody>
      </p:sp>
      <p:sp>
        <p:nvSpPr>
          <p:cNvPr id="4" name="next-investigations">
            <a:extLst>
              <a:ext uri="{FF2B5EF4-FFF2-40B4-BE49-F238E27FC236}">
                <a16:creationId xmlns:a16="http://schemas.microsoft.com/office/drawing/2014/main" id="{331E515C-CC99-46C2-9DCD-A07D5393AE57}"/>
              </a:ext>
            </a:extLst>
          </p:cNvPr>
          <p:cNvSpPr>
            <a:spLocks noGrp="1"/>
          </p:cNvSpPr>
          <p:nvPr/>
        </p:nvSpPr>
        <p:spPr>
          <a:xfrm>
            <a:off x="781050" y="1381125"/>
            <a:ext cx="5095875" cy="3857625"/>
          </a:xfrm>
          <a:prstGeom prst="rect">
            <a:avLst/>
          </a:prstGeom>
          <a:noFill/>
          <a:ln w="0">
            <a:noFill/>
            <a:prstDash val="solid"/>
          </a:ln>
        </p:spPr>
        <p:txBody>
          <a:bodyPr wrap="square" lIns="0" tIns="0" rIns="0" bIns="0" anchor="t">
            <a:normAutofit/>
          </a:bodyPr>
          <a:lstStyle>
            <a:defPPr algn="l">
              <a:defRPr sz="1725" b="0" i="0">
                <a:solidFill>
                  <a:srgbClr val="22313D"/>
                </a:solidFill>
                <a:latin typeface="Arial"/>
                <a:ea typeface="Arial"/>
                <a:cs typeface="Arial"/>
              </a:defRPr>
            </a:defPPr>
          </a:lstStyle>
          <a:p>
            <a:pPr algn="l">
              <a:lnSpc>
                <a:spcPct val="100000"/>
              </a:lnSpc>
              <a:buNone/>
              <a:defRPr sz="1725" b="0" i="0">
                <a:solidFill>
                  <a:srgbClr val="22313D"/>
                </a:solidFill>
                <a:latin typeface="Arial"/>
                <a:ea typeface="Arial"/>
                <a:cs typeface="Arial"/>
              </a:defRPr>
            </a:pPr>
            <a:r>
              <a:rPr sz="1725" b="0" i="0" dirty="0">
                <a:solidFill>
                  <a:srgbClr val="22313D"/>
                </a:solidFill>
                <a:latin typeface="Arial"/>
                <a:ea typeface="Arial"/>
                <a:cs typeface="Arial"/>
              </a:rPr>
              <a:t>WHAT TO INVESTIGATE</a:t>
            </a:r>
          </a:p>
          <a:p>
            <a:endParaRPr sz="1725" b="0" i="0" dirty="0">
              <a:solidFill>
                <a:srgbClr val="22313D"/>
              </a:solidFill>
              <a:latin typeface="Arial"/>
              <a:ea typeface="Arial"/>
              <a:cs typeface="Arial"/>
            </a:endParaRPr>
          </a:p>
          <a:p>
            <a:pPr algn="just">
              <a:lnSpc>
                <a:spcPct val="150000"/>
              </a:lnSpc>
              <a:buNone/>
              <a:defRPr sz="1725" b="0" i="0">
                <a:solidFill>
                  <a:srgbClr val="22313D"/>
                </a:solidFill>
                <a:latin typeface="Arial"/>
                <a:ea typeface="Arial"/>
                <a:cs typeface="Arial"/>
              </a:defRPr>
            </a:pPr>
            <a:r>
              <a:rPr sz="1725" b="0" i="0" dirty="0">
                <a:solidFill>
                  <a:srgbClr val="22313D"/>
                </a:solidFill>
                <a:latin typeface="Arial"/>
                <a:ea typeface="Arial"/>
                <a:cs typeface="Arial"/>
              </a:rPr>
              <a:t>• Segment late delivery by seller, destination, category, and shipping interval.</a:t>
            </a:r>
          </a:p>
          <a:p>
            <a:pPr algn="just">
              <a:lnSpc>
                <a:spcPct val="150000"/>
              </a:lnSpc>
              <a:buNone/>
              <a:defRPr sz="1725" b="0" i="0">
                <a:solidFill>
                  <a:srgbClr val="22313D"/>
                </a:solidFill>
                <a:latin typeface="Arial"/>
                <a:ea typeface="Arial"/>
                <a:cs typeface="Arial"/>
              </a:defRPr>
            </a:pPr>
            <a:r>
              <a:rPr sz="1725" b="0" i="0" dirty="0">
                <a:solidFill>
                  <a:srgbClr val="22313D"/>
                </a:solidFill>
                <a:latin typeface="Arial"/>
                <a:ea typeface="Arial"/>
                <a:cs typeface="Arial"/>
              </a:rPr>
              <a:t>• Compare low-score reviews with delivery and order characteristics.</a:t>
            </a:r>
          </a:p>
          <a:p>
            <a:pPr algn="just">
              <a:lnSpc>
                <a:spcPct val="150000"/>
              </a:lnSpc>
              <a:buNone/>
              <a:defRPr sz="1725" b="0" i="0">
                <a:solidFill>
                  <a:srgbClr val="22313D"/>
                </a:solidFill>
                <a:latin typeface="Arial"/>
                <a:ea typeface="Arial"/>
                <a:cs typeface="Arial"/>
              </a:defRPr>
            </a:pPr>
            <a:r>
              <a:rPr sz="1725" b="0" i="0" dirty="0">
                <a:solidFill>
                  <a:srgbClr val="22313D"/>
                </a:solidFill>
                <a:latin typeface="Arial"/>
                <a:ea typeface="Arial"/>
                <a:cs typeface="Arial"/>
              </a:rPr>
              <a:t>• Track repeat purchasing with customer cohorts and a longer window.</a:t>
            </a:r>
          </a:p>
        </p:txBody>
      </p:sp>
      <p:sp>
        <p:nvSpPr>
          <p:cNvPr id="5" name="interpretation-limits">
            <a:extLst>
              <a:ext uri="{FF2B5EF4-FFF2-40B4-BE49-F238E27FC236}">
                <a16:creationId xmlns:a16="http://schemas.microsoft.com/office/drawing/2014/main" id="{C10A3461-788E-4071-873A-4A6231A6E58C}"/>
              </a:ext>
            </a:extLst>
          </p:cNvPr>
          <p:cNvSpPr>
            <a:spLocks noGrp="1"/>
          </p:cNvSpPr>
          <p:nvPr/>
        </p:nvSpPr>
        <p:spPr>
          <a:xfrm>
            <a:off x="6429375" y="1381125"/>
            <a:ext cx="5000625" cy="3857625"/>
          </a:xfrm>
          <a:prstGeom prst="rect">
            <a:avLst/>
          </a:prstGeom>
          <a:noFill/>
          <a:ln w="0">
            <a:noFill/>
            <a:prstDash val="solid"/>
          </a:ln>
        </p:spPr>
        <p:txBody>
          <a:bodyPr wrap="square" lIns="0" tIns="0" rIns="0" bIns="0" anchor="t">
            <a:normAutofit/>
          </a:bodyPr>
          <a:lstStyle>
            <a:defPPr algn="l">
              <a:defRPr sz="1725" b="0" i="0">
                <a:solidFill>
                  <a:srgbClr val="22313D"/>
                </a:solidFill>
                <a:latin typeface="Arial"/>
                <a:ea typeface="Arial"/>
                <a:cs typeface="Arial"/>
              </a:defRPr>
            </a:defPPr>
          </a:lstStyle>
          <a:p>
            <a:pPr algn="l">
              <a:lnSpc>
                <a:spcPct val="100000"/>
              </a:lnSpc>
              <a:buNone/>
              <a:defRPr sz="1725" b="0" i="0">
                <a:solidFill>
                  <a:srgbClr val="22313D"/>
                </a:solidFill>
                <a:latin typeface="Arial"/>
                <a:ea typeface="Arial"/>
                <a:cs typeface="Arial"/>
              </a:defRPr>
            </a:pPr>
            <a:r>
              <a:rPr sz="1725" b="0" i="0" dirty="0">
                <a:solidFill>
                  <a:srgbClr val="22313D"/>
                </a:solidFill>
                <a:latin typeface="Arial"/>
                <a:ea typeface="Arial"/>
                <a:cs typeface="Arial"/>
              </a:rPr>
              <a:t>WHAT THE DATA CANNOT ESTABLISH</a:t>
            </a:r>
          </a:p>
          <a:p>
            <a:endParaRPr sz="1725" b="0" i="0" dirty="0">
              <a:solidFill>
                <a:srgbClr val="22313D"/>
              </a:solidFill>
              <a:latin typeface="Arial"/>
              <a:ea typeface="Arial"/>
              <a:cs typeface="Arial"/>
            </a:endParaRPr>
          </a:p>
          <a:p>
            <a:pPr algn="just">
              <a:lnSpc>
                <a:spcPct val="150000"/>
              </a:lnSpc>
              <a:buNone/>
              <a:defRPr sz="1725" b="0" i="0">
                <a:solidFill>
                  <a:srgbClr val="22313D"/>
                </a:solidFill>
                <a:latin typeface="Arial"/>
                <a:ea typeface="Arial"/>
                <a:cs typeface="Arial"/>
              </a:defRPr>
            </a:pPr>
            <a:r>
              <a:rPr sz="1725" b="0" i="0" dirty="0">
                <a:solidFill>
                  <a:srgbClr val="22313D"/>
                </a:solidFill>
                <a:latin typeface="Arial"/>
                <a:ea typeface="Arial"/>
                <a:cs typeface="Arial"/>
              </a:rPr>
              <a:t>• These descriptive patterns do not prove cause and effect.</a:t>
            </a:r>
          </a:p>
          <a:p>
            <a:pPr algn="just">
              <a:lnSpc>
                <a:spcPct val="150000"/>
              </a:lnSpc>
              <a:buNone/>
              <a:defRPr sz="1725" b="0" i="0">
                <a:solidFill>
                  <a:srgbClr val="22313D"/>
                </a:solidFill>
                <a:latin typeface="Arial"/>
                <a:ea typeface="Arial"/>
                <a:cs typeface="Arial"/>
              </a:defRPr>
            </a:pPr>
            <a:r>
              <a:rPr sz="1725" b="0" i="0" dirty="0">
                <a:solidFill>
                  <a:srgbClr val="22313D"/>
                </a:solidFill>
                <a:latin typeface="Arial"/>
                <a:ea typeface="Arial"/>
                <a:cs typeface="Arial"/>
              </a:rPr>
              <a:t>• Item price is not profit or audited revenue; cost, refund, and discount data are absent from this analysis.</a:t>
            </a:r>
          </a:p>
          <a:p>
            <a:pPr algn="just">
              <a:lnSpc>
                <a:spcPct val="150000"/>
              </a:lnSpc>
              <a:buNone/>
              <a:defRPr sz="1725" b="0" i="0">
                <a:solidFill>
                  <a:srgbClr val="22313D"/>
                </a:solidFill>
                <a:latin typeface="Arial"/>
                <a:ea typeface="Arial"/>
                <a:cs typeface="Arial"/>
              </a:defRPr>
            </a:pPr>
            <a:r>
              <a:rPr sz="1725" b="0" i="0" dirty="0">
                <a:solidFill>
                  <a:srgbClr val="22313D"/>
                </a:solidFill>
                <a:latin typeface="Arial"/>
                <a:ea typeface="Arial"/>
                <a:cs typeface="Arial"/>
              </a:rPr>
              <a:t>• Ratings reflect submitted reviews, and 2018 is incomplete.</a:t>
            </a:r>
          </a:p>
        </p:txBody>
      </p:sp>
      <p:sp>
        <p:nvSpPr>
          <p:cNvPr id="6" name="recommendation-bottom">
            <a:extLst>
              <a:ext uri="{FF2B5EF4-FFF2-40B4-BE49-F238E27FC236}">
                <a16:creationId xmlns:a16="http://schemas.microsoft.com/office/drawing/2014/main" id="{83318726-8035-49A3-89D5-CF54395ABA2C}"/>
              </a:ext>
            </a:extLst>
          </p:cNvPr>
          <p:cNvSpPr>
            <a:spLocks noGrp="1"/>
          </p:cNvSpPr>
          <p:nvPr/>
        </p:nvSpPr>
        <p:spPr>
          <a:xfrm>
            <a:off x="800100" y="5695950"/>
            <a:ext cx="10477500" cy="476250"/>
          </a:xfrm>
          <a:prstGeom prst="rect">
            <a:avLst/>
          </a:prstGeom>
          <a:noFill/>
          <a:ln w="0">
            <a:noFill/>
            <a:prstDash val="solid"/>
          </a:ln>
        </p:spPr>
        <p:txBody>
          <a:bodyPr wrap="square" lIns="0" tIns="0" rIns="0" bIns="0" anchor="t">
            <a:normAutofit fontScale="99807"/>
          </a:bodyPr>
          <a:lstStyle>
            <a:defPPr algn="l">
              <a:defRPr sz="1650" b="1" i="0">
                <a:solidFill>
                  <a:srgbClr val="147D82"/>
                </a:solidFill>
                <a:latin typeface="Arial"/>
                <a:ea typeface="Arial"/>
                <a:cs typeface="Arial"/>
              </a:defRPr>
            </a:defPPr>
          </a:lstStyle>
          <a:p>
            <a:pPr algn="l">
              <a:lnSpc>
                <a:spcPct val="100000"/>
              </a:lnSpc>
              <a:buNone/>
              <a:defRPr sz="1650" b="1" i="0">
                <a:solidFill>
                  <a:srgbClr val="147D82"/>
                </a:solidFill>
                <a:latin typeface="Arial"/>
                <a:ea typeface="Arial"/>
                <a:cs typeface="Arial"/>
              </a:defRPr>
            </a:pPr>
            <a:r>
              <a:rPr sz="1650" b="1" i="0">
                <a:solidFill>
                  <a:srgbClr val="147D82"/>
                </a:solidFill>
                <a:latin typeface="Arial"/>
                <a:ea typeface="Arial"/>
                <a:cs typeface="Arial"/>
              </a:rPr>
              <a:t>Treat the findings as a starting point for operational questions and controlled follow-up, not as a forecast.</a:t>
            </a:r>
          </a:p>
        </p:txBody>
      </p:sp>
    </p:spTree>
    <p:extLst>
      <p:ext uri="{BB962C8B-B14F-4D97-AF65-F5344CB8AC3E}">
        <p14:creationId xmlns:p14="http://schemas.microsoft.com/office/powerpoint/2010/main" val="14558630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54884119-1A50-4644-8948-57EF0BE9F91E}"/>
              </a:ext>
            </a:extLst>
          </p:cNvPr>
          <p:cNvSpPr>
            <a:spLocks noGrp="1"/>
          </p:cNvSpPr>
          <p:nvPr/>
        </p:nvSpPr>
        <p:spPr>
          <a:xfrm>
            <a:off x="685800" y="257175"/>
            <a:ext cx="8572500" cy="209550"/>
          </a:xfrm>
          <a:prstGeom prst="rect">
            <a:avLst/>
          </a:prstGeom>
          <a:noFill/>
          <a:ln w="0">
            <a:noFill/>
            <a:prstDash val="solid"/>
          </a:ln>
        </p:spPr>
        <p:txBody>
          <a:bodyPr wrap="square" lIns="0" tIns="0" rIns="0" bIns="0" anchor="t">
            <a:normAutofit/>
          </a:bodyPr>
          <a:lstStyle>
            <a:defPPr algn="l">
              <a:defRPr sz="1050" b="1" i="0">
                <a:solidFill>
                  <a:srgbClr val="147D82"/>
                </a:solidFill>
                <a:latin typeface="Arial"/>
                <a:ea typeface="Arial"/>
                <a:cs typeface="Arial"/>
              </a:defRPr>
            </a:defPPr>
          </a:lstStyle>
          <a:p>
            <a:pPr algn="l">
              <a:lnSpc>
                <a:spcPct val="100000"/>
              </a:lnSpc>
              <a:buNone/>
              <a:defRPr sz="1050" b="1" i="0">
                <a:solidFill>
                  <a:srgbClr val="147D82"/>
                </a:solidFill>
                <a:latin typeface="Arial"/>
                <a:ea typeface="Arial"/>
                <a:cs typeface="Arial"/>
              </a:defRPr>
            </a:pPr>
            <a:r>
              <a:rPr sz="1050" b="1" i="0">
                <a:solidFill>
                  <a:srgbClr val="147D82"/>
                </a:solidFill>
                <a:latin typeface="Arial"/>
                <a:ea typeface="Arial"/>
                <a:cs typeface="Arial"/>
              </a:rPr>
              <a:t>PERSONAL REFLECTION</a:t>
            </a:r>
          </a:p>
        </p:txBody>
      </p:sp>
      <p:sp>
        <p:nvSpPr>
          <p:cNvPr id="2" name="slide-title">
            <a:extLst>
              <a:ext uri="{FF2B5EF4-FFF2-40B4-BE49-F238E27FC236}">
                <a16:creationId xmlns:a16="http://schemas.microsoft.com/office/drawing/2014/main" id="{A0657488-20EE-4EB7-9F47-D9C575FF6F0A}"/>
              </a:ext>
            </a:extLst>
          </p:cNvPr>
          <p:cNvSpPr>
            <a:spLocks noGrp="1"/>
          </p:cNvSpPr>
          <p:nvPr/>
        </p:nvSpPr>
        <p:spPr>
          <a:xfrm>
            <a:off x="685800" y="552450"/>
            <a:ext cx="10820400" cy="552450"/>
          </a:xfrm>
          <a:prstGeom prst="rect">
            <a:avLst/>
          </a:prstGeom>
          <a:noFill/>
          <a:ln w="0">
            <a:noFill/>
            <a:prstDash val="solid"/>
          </a:ln>
        </p:spPr>
        <p:txBody>
          <a:bodyPr wrap="square" lIns="0" tIns="0" rIns="0" bIns="0" anchor="t">
            <a:normAutofit/>
          </a:bodyPr>
          <a:lstStyle>
            <a:defPPr algn="l">
              <a:defRPr sz="3225" b="1" i="0">
                <a:solidFill>
                  <a:srgbClr val="12304A"/>
                </a:solidFill>
                <a:latin typeface="Arial"/>
                <a:ea typeface="Arial"/>
                <a:cs typeface="Arial"/>
              </a:defRPr>
            </a:defPPr>
          </a:lstStyle>
          <a:p>
            <a:pPr algn="l">
              <a:lnSpc>
                <a:spcPct val="100000"/>
              </a:lnSpc>
              <a:buNone/>
              <a:defRPr sz="3225" b="1" i="0">
                <a:solidFill>
                  <a:srgbClr val="12304A"/>
                </a:solidFill>
                <a:latin typeface="Arial"/>
                <a:ea typeface="Arial"/>
                <a:cs typeface="Arial"/>
              </a:defRPr>
            </a:pPr>
            <a:r>
              <a:rPr sz="3225" b="1" i="0">
                <a:solidFill>
                  <a:srgbClr val="12304A"/>
                </a:solidFill>
                <a:latin typeface="Arial"/>
                <a:ea typeface="Arial"/>
                <a:cs typeface="Arial"/>
              </a:rPr>
              <a:t>What I learned</a:t>
            </a:r>
          </a:p>
        </p:txBody>
      </p:sp>
      <p:sp>
        <p:nvSpPr>
          <p:cNvPr id="3" name="footer">
            <a:extLst>
              <a:ext uri="{FF2B5EF4-FFF2-40B4-BE49-F238E27FC236}">
                <a16:creationId xmlns:a16="http://schemas.microsoft.com/office/drawing/2014/main" id="{390F0C2E-013E-40F8-8C4D-AB925A78BC0F}"/>
              </a:ext>
            </a:extLst>
          </p:cNvPr>
          <p:cNvSpPr>
            <a:spLocks noGrp="1"/>
          </p:cNvSpPr>
          <p:nvPr/>
        </p:nvSpPr>
        <p:spPr>
          <a:xfrm>
            <a:off x="685800" y="6477000"/>
            <a:ext cx="8572500" cy="209550"/>
          </a:xfrm>
          <a:prstGeom prst="rect">
            <a:avLst/>
          </a:prstGeom>
          <a:noFill/>
          <a:ln w="0">
            <a:noFill/>
            <a:prstDash val="solid"/>
          </a:ln>
        </p:spPr>
        <p:txBody>
          <a:bodyPr wrap="square" lIns="0" tIns="0" rIns="0" bIns="0" anchor="t">
            <a:normAutofit/>
          </a:bodyPr>
          <a:lstStyle>
            <a:defPPr algn="l">
              <a:defRPr sz="1050" b="0" i="0">
                <a:solidFill>
                  <a:srgbClr val="586B78"/>
                </a:solidFill>
                <a:latin typeface="Arial"/>
                <a:ea typeface="Arial"/>
                <a:cs typeface="Arial"/>
              </a:defRPr>
            </a:defPPr>
          </a:lstStyle>
          <a:p>
            <a:pPr algn="l">
              <a:lnSpc>
                <a:spcPct val="100000"/>
              </a:lnSpc>
              <a:buNone/>
              <a:defRPr sz="1050" b="0" i="0">
                <a:solidFill>
                  <a:srgbClr val="586B78"/>
                </a:solidFill>
                <a:latin typeface="Arial"/>
                <a:ea typeface="Arial"/>
                <a:cs typeface="Arial"/>
              </a:defRPr>
            </a:pPr>
            <a:r>
              <a:rPr sz="1050" b="0" i="0">
                <a:solidFill>
                  <a:srgbClr val="586B78"/>
                </a:solidFill>
                <a:latin typeface="Arial"/>
                <a:ea typeface="Arial"/>
                <a:cs typeface="Arial"/>
              </a:rPr>
              <a:t>Historical Olist records | 4 Sep 2016–17 Oct 2018</a:t>
            </a:r>
          </a:p>
        </p:txBody>
      </p:sp>
      <p:sp>
        <p:nvSpPr>
          <p:cNvPr id="4" name="reflection-p1">
            <a:extLst>
              <a:ext uri="{FF2B5EF4-FFF2-40B4-BE49-F238E27FC236}">
                <a16:creationId xmlns:a16="http://schemas.microsoft.com/office/drawing/2014/main" id="{C31CD2A4-9EB9-4B88-9500-C7DF9BF0F624}"/>
              </a:ext>
            </a:extLst>
          </p:cNvPr>
          <p:cNvSpPr>
            <a:spLocks noGrp="1"/>
          </p:cNvSpPr>
          <p:nvPr/>
        </p:nvSpPr>
        <p:spPr>
          <a:xfrm>
            <a:off x="838200" y="1428750"/>
            <a:ext cx="10477500" cy="1143000"/>
          </a:xfrm>
          <a:prstGeom prst="rect">
            <a:avLst/>
          </a:prstGeom>
          <a:noFill/>
          <a:ln w="0">
            <a:noFill/>
            <a:prstDash val="solid"/>
          </a:ln>
        </p:spPr>
        <p:txBody>
          <a:bodyPr wrap="square" lIns="0" tIns="0" rIns="0" bIns="0" anchor="t">
            <a:normAutofit/>
          </a:bodyPr>
          <a:lstStyle>
            <a:defPPr algn="l">
              <a:defRPr sz="1725" b="0" i="0">
                <a:solidFill>
                  <a:srgbClr val="22313D"/>
                </a:solidFill>
                <a:latin typeface="Arial"/>
                <a:ea typeface="Arial"/>
                <a:cs typeface="Arial"/>
              </a:defRPr>
            </a:defPPr>
          </a:lstStyle>
          <a:p>
            <a:pPr algn="just">
              <a:lnSpc>
                <a:spcPct val="100000"/>
              </a:lnSpc>
              <a:buNone/>
              <a:defRPr sz="1725" b="0" i="0">
                <a:solidFill>
                  <a:srgbClr val="22313D"/>
                </a:solidFill>
                <a:latin typeface="Arial"/>
                <a:ea typeface="Arial"/>
                <a:cs typeface="Arial"/>
              </a:defRPr>
            </a:pPr>
            <a:r>
              <a:rPr sz="1725" b="0" i="0" dirty="0">
                <a:solidFill>
                  <a:srgbClr val="22313D"/>
                </a:solidFill>
                <a:latin typeface="Arial"/>
                <a:ea typeface="Arial"/>
                <a:cs typeface="Arial"/>
              </a:rPr>
              <a:t>I began by thinking the hardest part would be making charts. The bigger challenge was learning what one row meant in each CSV. Orders, order items, payments, and reviews do not share the same grain, and a careless join can make totals look larger than they are. Checking keys and keeping the tables separate changed how I approach analysis.</a:t>
            </a:r>
          </a:p>
        </p:txBody>
      </p:sp>
      <p:sp>
        <p:nvSpPr>
          <p:cNvPr id="5" name="reflection-p2">
            <a:extLst>
              <a:ext uri="{FF2B5EF4-FFF2-40B4-BE49-F238E27FC236}">
                <a16:creationId xmlns:a16="http://schemas.microsoft.com/office/drawing/2014/main" id="{62570262-1A6C-429C-A0CD-AC785DF09163}"/>
              </a:ext>
            </a:extLst>
          </p:cNvPr>
          <p:cNvSpPr>
            <a:spLocks noGrp="1"/>
          </p:cNvSpPr>
          <p:nvPr/>
        </p:nvSpPr>
        <p:spPr>
          <a:xfrm>
            <a:off x="838200" y="2581275"/>
            <a:ext cx="10477500" cy="1143000"/>
          </a:xfrm>
          <a:prstGeom prst="rect">
            <a:avLst/>
          </a:prstGeom>
          <a:noFill/>
          <a:ln w="0">
            <a:noFill/>
            <a:prstDash val="solid"/>
          </a:ln>
        </p:spPr>
        <p:txBody>
          <a:bodyPr wrap="square" lIns="0" tIns="0" rIns="0" bIns="0" anchor="t">
            <a:normAutofit/>
          </a:bodyPr>
          <a:lstStyle>
            <a:defPPr algn="l">
              <a:defRPr sz="1725" b="0" i="0">
                <a:solidFill>
                  <a:srgbClr val="22313D"/>
                </a:solidFill>
                <a:latin typeface="Arial"/>
                <a:ea typeface="Arial"/>
                <a:cs typeface="Arial"/>
              </a:defRPr>
            </a:defPPr>
          </a:lstStyle>
          <a:p>
            <a:pPr algn="just">
              <a:lnSpc>
                <a:spcPct val="100000"/>
              </a:lnSpc>
              <a:buNone/>
              <a:defRPr sz="1725" b="0" i="0">
                <a:solidFill>
                  <a:srgbClr val="22313D"/>
                </a:solidFill>
                <a:latin typeface="Arial"/>
                <a:ea typeface="Arial"/>
                <a:cs typeface="Arial"/>
              </a:defRPr>
            </a:pPr>
            <a:r>
              <a:rPr sz="1725" b="0" i="0" dirty="0">
                <a:solidFill>
                  <a:srgbClr val="22313D"/>
                </a:solidFill>
                <a:latin typeface="Arial"/>
                <a:ea typeface="Arial"/>
                <a:cs typeface="Arial"/>
              </a:rPr>
              <a:t>I also learned to keep missing values visible. The eight delivered orders without actual delivery timestamps could not fairly be classified as on time or late. Category blanks and untranslated labels needed careful treatment too; I should not guess a missing value just to make a chart look complete.</a:t>
            </a:r>
          </a:p>
        </p:txBody>
      </p:sp>
      <p:sp>
        <p:nvSpPr>
          <p:cNvPr id="6" name="reflection-p3">
            <a:extLst>
              <a:ext uri="{FF2B5EF4-FFF2-40B4-BE49-F238E27FC236}">
                <a16:creationId xmlns:a16="http://schemas.microsoft.com/office/drawing/2014/main" id="{65867069-3B84-4184-ABFF-FC6736F35D91}"/>
              </a:ext>
            </a:extLst>
          </p:cNvPr>
          <p:cNvSpPr>
            <a:spLocks noGrp="1"/>
          </p:cNvSpPr>
          <p:nvPr/>
        </p:nvSpPr>
        <p:spPr>
          <a:xfrm>
            <a:off x="857250" y="3553380"/>
            <a:ext cx="10477500" cy="1143000"/>
          </a:xfrm>
          <a:prstGeom prst="rect">
            <a:avLst/>
          </a:prstGeom>
          <a:noFill/>
          <a:ln w="0">
            <a:noFill/>
            <a:prstDash val="solid"/>
          </a:ln>
        </p:spPr>
        <p:txBody>
          <a:bodyPr wrap="square" lIns="0" tIns="0" rIns="0" bIns="0" anchor="t">
            <a:normAutofit/>
          </a:bodyPr>
          <a:lstStyle>
            <a:defPPr algn="l">
              <a:defRPr sz="1725" b="0" i="0">
                <a:solidFill>
                  <a:srgbClr val="22313D"/>
                </a:solidFill>
                <a:latin typeface="Arial"/>
                <a:ea typeface="Arial"/>
                <a:cs typeface="Arial"/>
              </a:defRPr>
            </a:defPPr>
          </a:lstStyle>
          <a:p>
            <a:pPr algn="just">
              <a:lnSpc>
                <a:spcPct val="100000"/>
              </a:lnSpc>
              <a:buNone/>
              <a:defRPr sz="1725" b="0" i="0">
                <a:solidFill>
                  <a:srgbClr val="22313D"/>
                </a:solidFill>
                <a:latin typeface="Arial"/>
                <a:ea typeface="Arial"/>
                <a:cs typeface="Arial"/>
              </a:defRPr>
            </a:pPr>
            <a:r>
              <a:rPr sz="1725" b="0" i="0" dirty="0">
                <a:solidFill>
                  <a:srgbClr val="22313D"/>
                </a:solidFill>
                <a:latin typeface="Arial"/>
                <a:ea typeface="Arial"/>
                <a:cs typeface="Arial"/>
              </a:rPr>
              <a:t>My next improvement would be to make the full-period dashboard view the default, improve seller labels, and add a customer cohort view. I would want cost and refund data before discussing profit. This project made me more careful about validation, metric definitions, and the limits of historical data.</a:t>
            </a:r>
          </a:p>
        </p:txBody>
      </p:sp>
    </p:spTree>
    <p:extLst>
      <p:ext uri="{BB962C8B-B14F-4D97-AF65-F5344CB8AC3E}">
        <p14:creationId xmlns:p14="http://schemas.microsoft.com/office/powerpoint/2010/main" val="15941693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ection-label">
            <a:extLst>
              <a:ext uri="{FF2B5EF4-FFF2-40B4-BE49-F238E27FC236}">
                <a16:creationId xmlns:a16="http://schemas.microsoft.com/office/drawing/2014/main" id="{7C440D9B-8690-47F0-8BE5-AD83313B80E0}"/>
              </a:ext>
            </a:extLst>
          </p:cNvPr>
          <p:cNvSpPr>
            <a:spLocks noGrp="1"/>
          </p:cNvSpPr>
          <p:nvPr/>
        </p:nvSpPr>
        <p:spPr>
          <a:xfrm>
            <a:off x="685800" y="257175"/>
            <a:ext cx="8572500" cy="209550"/>
          </a:xfrm>
          <a:prstGeom prst="rect">
            <a:avLst/>
          </a:prstGeom>
          <a:noFill/>
          <a:ln w="0">
            <a:noFill/>
            <a:prstDash val="solid"/>
          </a:ln>
        </p:spPr>
        <p:txBody>
          <a:bodyPr wrap="square" lIns="0" tIns="0" rIns="0" bIns="0" anchor="t">
            <a:normAutofit/>
          </a:bodyPr>
          <a:lstStyle>
            <a:defPPr algn="l">
              <a:defRPr sz="1050" b="1" i="0">
                <a:solidFill>
                  <a:srgbClr val="147D82"/>
                </a:solidFill>
                <a:latin typeface="Arial"/>
                <a:ea typeface="Arial"/>
                <a:cs typeface="Arial"/>
              </a:defRPr>
            </a:defPPr>
          </a:lstStyle>
          <a:p>
            <a:pPr algn="l">
              <a:lnSpc>
                <a:spcPct val="100000"/>
              </a:lnSpc>
              <a:buNone/>
              <a:defRPr sz="1050" b="1" i="0">
                <a:solidFill>
                  <a:srgbClr val="147D82"/>
                </a:solidFill>
                <a:latin typeface="Arial"/>
                <a:ea typeface="Arial"/>
                <a:cs typeface="Arial"/>
              </a:defRPr>
            </a:pPr>
            <a:r>
              <a:rPr sz="1050" b="1" i="0">
                <a:solidFill>
                  <a:srgbClr val="147D82"/>
                </a:solidFill>
                <a:latin typeface="Arial"/>
                <a:ea typeface="Arial"/>
                <a:cs typeface="Arial"/>
              </a:rPr>
              <a:t>SOURCES</a:t>
            </a:r>
          </a:p>
        </p:txBody>
      </p:sp>
      <p:sp>
        <p:nvSpPr>
          <p:cNvPr id="2" name="slide-title">
            <a:extLst>
              <a:ext uri="{FF2B5EF4-FFF2-40B4-BE49-F238E27FC236}">
                <a16:creationId xmlns:a16="http://schemas.microsoft.com/office/drawing/2014/main" id="{B68C5728-B177-4935-BD0B-52EFFD1CF029}"/>
              </a:ext>
            </a:extLst>
          </p:cNvPr>
          <p:cNvSpPr>
            <a:spLocks noGrp="1"/>
          </p:cNvSpPr>
          <p:nvPr/>
        </p:nvSpPr>
        <p:spPr>
          <a:xfrm>
            <a:off x="685800" y="552450"/>
            <a:ext cx="10820400" cy="552450"/>
          </a:xfrm>
          <a:prstGeom prst="rect">
            <a:avLst/>
          </a:prstGeom>
          <a:noFill/>
          <a:ln w="0">
            <a:noFill/>
            <a:prstDash val="solid"/>
          </a:ln>
        </p:spPr>
        <p:txBody>
          <a:bodyPr wrap="square" lIns="0" tIns="0" rIns="0" bIns="0" anchor="t">
            <a:normAutofit/>
          </a:bodyPr>
          <a:lstStyle>
            <a:defPPr algn="l">
              <a:defRPr sz="3225" b="1" i="0">
                <a:solidFill>
                  <a:srgbClr val="12304A"/>
                </a:solidFill>
                <a:latin typeface="Arial"/>
                <a:ea typeface="Arial"/>
                <a:cs typeface="Arial"/>
              </a:defRPr>
            </a:defPPr>
          </a:lstStyle>
          <a:p>
            <a:pPr algn="l">
              <a:lnSpc>
                <a:spcPct val="100000"/>
              </a:lnSpc>
              <a:buNone/>
              <a:defRPr sz="3225" b="1" i="0">
                <a:solidFill>
                  <a:srgbClr val="12304A"/>
                </a:solidFill>
                <a:latin typeface="Arial"/>
                <a:ea typeface="Arial"/>
                <a:cs typeface="Arial"/>
              </a:defRPr>
            </a:pPr>
            <a:r>
              <a:rPr sz="3225" b="1" i="0">
                <a:solidFill>
                  <a:srgbClr val="12304A"/>
                </a:solidFill>
                <a:latin typeface="Arial"/>
                <a:ea typeface="Arial"/>
                <a:cs typeface="Arial"/>
              </a:rPr>
              <a:t>References</a:t>
            </a:r>
          </a:p>
        </p:txBody>
      </p:sp>
      <p:sp>
        <p:nvSpPr>
          <p:cNvPr id="3" name="footer">
            <a:extLst>
              <a:ext uri="{FF2B5EF4-FFF2-40B4-BE49-F238E27FC236}">
                <a16:creationId xmlns:a16="http://schemas.microsoft.com/office/drawing/2014/main" id="{594EE13F-2F5A-4ECE-9F4E-0FBCCA01EBA1}"/>
              </a:ext>
            </a:extLst>
          </p:cNvPr>
          <p:cNvSpPr>
            <a:spLocks noGrp="1"/>
          </p:cNvSpPr>
          <p:nvPr/>
        </p:nvSpPr>
        <p:spPr>
          <a:xfrm>
            <a:off x="685800" y="6477000"/>
            <a:ext cx="8572500" cy="209550"/>
          </a:xfrm>
          <a:prstGeom prst="rect">
            <a:avLst/>
          </a:prstGeom>
          <a:noFill/>
          <a:ln w="0">
            <a:noFill/>
            <a:prstDash val="solid"/>
          </a:ln>
        </p:spPr>
        <p:txBody>
          <a:bodyPr wrap="square" lIns="0" tIns="0" rIns="0" bIns="0" anchor="t">
            <a:normAutofit/>
          </a:bodyPr>
          <a:lstStyle>
            <a:defPPr algn="l">
              <a:defRPr sz="1050" b="0" i="0">
                <a:solidFill>
                  <a:srgbClr val="586B78"/>
                </a:solidFill>
                <a:latin typeface="Arial"/>
                <a:ea typeface="Arial"/>
                <a:cs typeface="Arial"/>
              </a:defRPr>
            </a:defPPr>
          </a:lstStyle>
          <a:p>
            <a:pPr algn="l">
              <a:lnSpc>
                <a:spcPct val="100000"/>
              </a:lnSpc>
              <a:buNone/>
              <a:defRPr sz="1050" b="0" i="0">
                <a:solidFill>
                  <a:srgbClr val="586B78"/>
                </a:solidFill>
                <a:latin typeface="Arial"/>
                <a:ea typeface="Arial"/>
                <a:cs typeface="Arial"/>
              </a:defRPr>
            </a:pPr>
            <a:r>
              <a:rPr sz="1050" b="0" i="0">
                <a:solidFill>
                  <a:srgbClr val="586B78"/>
                </a:solidFill>
                <a:latin typeface="Arial"/>
                <a:ea typeface="Arial"/>
                <a:cs typeface="Arial"/>
              </a:rPr>
              <a:t>Historical Olist records | 4 Sep 2016–17 Oct 2018</a:t>
            </a:r>
          </a:p>
        </p:txBody>
      </p:sp>
      <p:sp>
        <p:nvSpPr>
          <p:cNvPr id="4" name="reference-1">
            <a:extLst>
              <a:ext uri="{FF2B5EF4-FFF2-40B4-BE49-F238E27FC236}">
                <a16:creationId xmlns:a16="http://schemas.microsoft.com/office/drawing/2014/main" id="{8365766A-90A1-4EB8-ABDE-7480F10BE79A}"/>
              </a:ext>
            </a:extLst>
          </p:cNvPr>
          <p:cNvSpPr>
            <a:spLocks noGrp="1"/>
          </p:cNvSpPr>
          <p:nvPr/>
        </p:nvSpPr>
        <p:spPr>
          <a:xfrm>
            <a:off x="838200" y="1381125"/>
            <a:ext cx="10477500" cy="381000"/>
          </a:xfrm>
          <a:prstGeom prst="rect">
            <a:avLst/>
          </a:prstGeom>
          <a:noFill/>
          <a:ln w="0">
            <a:noFill/>
            <a:prstDash val="solid"/>
          </a:ln>
        </p:spPr>
        <p:txBody>
          <a:bodyPr wrap="square" lIns="0" tIns="0" rIns="0" bIns="0" anchor="t">
            <a:normAutofit/>
          </a:bodyPr>
          <a:lstStyle>
            <a:defPPr algn="l">
              <a:defRPr sz="1575" b="0" i="0">
                <a:solidFill>
                  <a:srgbClr val="22313D"/>
                </a:solidFill>
                <a:latin typeface="Arial"/>
                <a:ea typeface="Arial"/>
                <a:cs typeface="Arial"/>
              </a:defRPr>
            </a:defPPr>
          </a:lstStyle>
          <a:p>
            <a:pPr algn="l">
              <a:lnSpc>
                <a:spcPct val="100000"/>
              </a:lnSpc>
              <a:buNone/>
              <a:defRPr sz="1575" b="0" i="0">
                <a:solidFill>
                  <a:srgbClr val="22313D"/>
                </a:solidFill>
                <a:latin typeface="Arial"/>
                <a:ea typeface="Arial"/>
                <a:cs typeface="Arial"/>
              </a:defRPr>
            </a:pPr>
            <a:r>
              <a:rPr sz="1575" b="0" i="0">
                <a:solidFill>
                  <a:srgbClr val="22313D"/>
                </a:solidFill>
                <a:latin typeface="Arial"/>
                <a:ea typeface="Arial"/>
                <a:cs typeface="Arial"/>
              </a:rPr>
              <a:t>1.  </a:t>
            </a:r>
            <a:r>
              <a:rPr sz="1575" b="0" i="0">
                <a:solidFill>
                  <a:srgbClr val="22313D"/>
                </a:solidFill>
                <a:latin typeface="Arial"/>
                <a:ea typeface="Arial"/>
                <a:cs typeface="Arial"/>
                <a:hlinkClick r:id="rId3"/>
              </a:rPr>
              <a:t>Olist. Brazilian E-Commerce Public Dataset by Olist. Kaggle.</a:t>
            </a:r>
          </a:p>
        </p:txBody>
      </p:sp>
      <p:sp>
        <p:nvSpPr>
          <p:cNvPr id="5" name="reference-2">
            <a:extLst>
              <a:ext uri="{FF2B5EF4-FFF2-40B4-BE49-F238E27FC236}">
                <a16:creationId xmlns:a16="http://schemas.microsoft.com/office/drawing/2014/main" id="{CE742341-157D-4A97-BD5E-C56D82AB6E4D}"/>
              </a:ext>
            </a:extLst>
          </p:cNvPr>
          <p:cNvSpPr>
            <a:spLocks noGrp="1"/>
          </p:cNvSpPr>
          <p:nvPr/>
        </p:nvSpPr>
        <p:spPr>
          <a:xfrm>
            <a:off x="838200" y="2095500"/>
            <a:ext cx="10477500" cy="381000"/>
          </a:xfrm>
          <a:prstGeom prst="rect">
            <a:avLst/>
          </a:prstGeom>
          <a:noFill/>
          <a:ln w="0">
            <a:noFill/>
            <a:prstDash val="solid"/>
          </a:ln>
        </p:spPr>
        <p:txBody>
          <a:bodyPr wrap="square" lIns="0" tIns="0" rIns="0" bIns="0" anchor="t">
            <a:normAutofit/>
          </a:bodyPr>
          <a:lstStyle>
            <a:defPPr algn="l">
              <a:defRPr sz="1575" b="0" i="0">
                <a:solidFill>
                  <a:srgbClr val="22313D"/>
                </a:solidFill>
                <a:latin typeface="Arial"/>
                <a:ea typeface="Arial"/>
                <a:cs typeface="Arial"/>
              </a:defRPr>
            </a:defPPr>
          </a:lstStyle>
          <a:p>
            <a:pPr algn="l">
              <a:lnSpc>
                <a:spcPct val="100000"/>
              </a:lnSpc>
              <a:buNone/>
              <a:defRPr sz="1575" b="0" i="0">
                <a:solidFill>
                  <a:srgbClr val="22313D"/>
                </a:solidFill>
                <a:latin typeface="Arial"/>
                <a:ea typeface="Arial"/>
                <a:cs typeface="Arial"/>
              </a:defRPr>
            </a:pPr>
            <a:r>
              <a:rPr sz="1575" b="0" i="0">
                <a:solidFill>
                  <a:srgbClr val="22313D"/>
                </a:solidFill>
                <a:latin typeface="Arial"/>
                <a:ea typeface="Arial"/>
                <a:cs typeface="Arial"/>
              </a:rPr>
              <a:t>2.  </a:t>
            </a:r>
            <a:r>
              <a:rPr sz="1575" b="0" i="0">
                <a:solidFill>
                  <a:srgbClr val="22313D"/>
                </a:solidFill>
                <a:latin typeface="Arial"/>
                <a:ea typeface="Arial"/>
                <a:cs typeface="Arial"/>
                <a:hlinkClick r:id="rId4"/>
              </a:rPr>
              <a:t>Microsoft Support. Power Query for Excel Help.</a:t>
            </a:r>
          </a:p>
        </p:txBody>
      </p:sp>
      <p:sp>
        <p:nvSpPr>
          <p:cNvPr id="6" name="reference-3">
            <a:extLst>
              <a:ext uri="{FF2B5EF4-FFF2-40B4-BE49-F238E27FC236}">
                <a16:creationId xmlns:a16="http://schemas.microsoft.com/office/drawing/2014/main" id="{11FC250A-0C2A-428C-8A9D-85428DBC0C75}"/>
              </a:ext>
            </a:extLst>
          </p:cNvPr>
          <p:cNvSpPr>
            <a:spLocks noGrp="1"/>
          </p:cNvSpPr>
          <p:nvPr/>
        </p:nvSpPr>
        <p:spPr>
          <a:xfrm>
            <a:off x="838200" y="2809875"/>
            <a:ext cx="10477500" cy="381000"/>
          </a:xfrm>
          <a:prstGeom prst="rect">
            <a:avLst/>
          </a:prstGeom>
          <a:noFill/>
          <a:ln w="0">
            <a:noFill/>
            <a:prstDash val="solid"/>
          </a:ln>
        </p:spPr>
        <p:txBody>
          <a:bodyPr wrap="square" lIns="0" tIns="0" rIns="0" bIns="0" anchor="t">
            <a:normAutofit/>
          </a:bodyPr>
          <a:lstStyle>
            <a:defPPr algn="l">
              <a:defRPr sz="1575" b="0" i="0">
                <a:solidFill>
                  <a:srgbClr val="22313D"/>
                </a:solidFill>
                <a:latin typeface="Arial"/>
                <a:ea typeface="Arial"/>
                <a:cs typeface="Arial"/>
              </a:defRPr>
            </a:defPPr>
          </a:lstStyle>
          <a:p>
            <a:pPr algn="l">
              <a:lnSpc>
                <a:spcPct val="100000"/>
              </a:lnSpc>
              <a:buNone/>
              <a:defRPr sz="1575" b="0" i="0">
                <a:solidFill>
                  <a:srgbClr val="22313D"/>
                </a:solidFill>
                <a:latin typeface="Arial"/>
                <a:ea typeface="Arial"/>
                <a:cs typeface="Arial"/>
              </a:defRPr>
            </a:pPr>
            <a:r>
              <a:rPr sz="1575" b="0" i="0">
                <a:solidFill>
                  <a:srgbClr val="22313D"/>
                </a:solidFill>
                <a:latin typeface="Arial"/>
                <a:ea typeface="Arial"/>
                <a:cs typeface="Arial"/>
              </a:rPr>
              <a:t>3.  </a:t>
            </a:r>
            <a:r>
              <a:rPr sz="1575" b="0" i="0">
                <a:solidFill>
                  <a:srgbClr val="22313D"/>
                </a:solidFill>
                <a:latin typeface="Arial"/>
                <a:ea typeface="Arial"/>
                <a:cs typeface="Arial"/>
                <a:hlinkClick r:id="rId5"/>
              </a:rPr>
              <a:t>Microsoft Support. How Power Query and Power Pivot work together.</a:t>
            </a:r>
          </a:p>
        </p:txBody>
      </p:sp>
      <p:sp>
        <p:nvSpPr>
          <p:cNvPr id="7" name="reference-4">
            <a:extLst>
              <a:ext uri="{FF2B5EF4-FFF2-40B4-BE49-F238E27FC236}">
                <a16:creationId xmlns:a16="http://schemas.microsoft.com/office/drawing/2014/main" id="{8115EC2E-179E-4AED-B986-F7A3BDE95E09}"/>
              </a:ext>
            </a:extLst>
          </p:cNvPr>
          <p:cNvSpPr>
            <a:spLocks noGrp="1"/>
          </p:cNvSpPr>
          <p:nvPr/>
        </p:nvSpPr>
        <p:spPr>
          <a:xfrm>
            <a:off x="838200" y="3524250"/>
            <a:ext cx="10477500" cy="381000"/>
          </a:xfrm>
          <a:prstGeom prst="rect">
            <a:avLst/>
          </a:prstGeom>
          <a:noFill/>
          <a:ln w="0">
            <a:noFill/>
            <a:prstDash val="solid"/>
          </a:ln>
        </p:spPr>
        <p:txBody>
          <a:bodyPr wrap="square" lIns="0" tIns="0" rIns="0" bIns="0" anchor="t">
            <a:normAutofit/>
          </a:bodyPr>
          <a:lstStyle>
            <a:defPPr algn="l">
              <a:defRPr sz="1575" b="0" i="0">
                <a:solidFill>
                  <a:srgbClr val="22313D"/>
                </a:solidFill>
                <a:latin typeface="Arial"/>
                <a:ea typeface="Arial"/>
                <a:cs typeface="Arial"/>
              </a:defRPr>
            </a:defPPr>
          </a:lstStyle>
          <a:p>
            <a:pPr algn="l">
              <a:lnSpc>
                <a:spcPct val="100000"/>
              </a:lnSpc>
              <a:buNone/>
              <a:defRPr sz="1575" b="0" i="0">
                <a:solidFill>
                  <a:srgbClr val="22313D"/>
                </a:solidFill>
                <a:latin typeface="Arial"/>
                <a:ea typeface="Arial"/>
                <a:cs typeface="Arial"/>
              </a:defRPr>
            </a:pPr>
            <a:r>
              <a:rPr sz="1575" b="0" i="0">
                <a:solidFill>
                  <a:srgbClr val="22313D"/>
                </a:solidFill>
                <a:latin typeface="Arial"/>
                <a:ea typeface="Arial"/>
                <a:cs typeface="Arial"/>
              </a:rPr>
              <a:t>4.  </a:t>
            </a:r>
            <a:r>
              <a:rPr sz="1575" b="0" i="0">
                <a:solidFill>
                  <a:srgbClr val="22313D"/>
                </a:solidFill>
                <a:latin typeface="Arial"/>
                <a:ea typeface="Arial"/>
                <a:cs typeface="Arial"/>
                <a:hlinkClick r:id="rId6"/>
              </a:rPr>
              <a:t>Microsoft Support. Create a Data Model in Excel.</a:t>
            </a:r>
          </a:p>
        </p:txBody>
      </p:sp>
      <p:sp>
        <p:nvSpPr>
          <p:cNvPr id="8" name="reference-5">
            <a:extLst>
              <a:ext uri="{FF2B5EF4-FFF2-40B4-BE49-F238E27FC236}">
                <a16:creationId xmlns:a16="http://schemas.microsoft.com/office/drawing/2014/main" id="{263A3A71-DA51-4147-B626-C0D777F210CA}"/>
              </a:ext>
            </a:extLst>
          </p:cNvPr>
          <p:cNvSpPr>
            <a:spLocks noGrp="1"/>
          </p:cNvSpPr>
          <p:nvPr/>
        </p:nvSpPr>
        <p:spPr>
          <a:xfrm>
            <a:off x="838200" y="4238625"/>
            <a:ext cx="10477500" cy="381000"/>
          </a:xfrm>
          <a:prstGeom prst="rect">
            <a:avLst/>
          </a:prstGeom>
          <a:noFill/>
          <a:ln w="0">
            <a:noFill/>
            <a:prstDash val="solid"/>
          </a:ln>
        </p:spPr>
        <p:txBody>
          <a:bodyPr wrap="square" lIns="0" tIns="0" rIns="0" bIns="0" anchor="t">
            <a:normAutofit/>
          </a:bodyPr>
          <a:lstStyle>
            <a:defPPr algn="l">
              <a:defRPr sz="1575" b="0" i="0">
                <a:solidFill>
                  <a:srgbClr val="22313D"/>
                </a:solidFill>
                <a:latin typeface="Arial"/>
                <a:ea typeface="Arial"/>
                <a:cs typeface="Arial"/>
              </a:defRPr>
            </a:defPPr>
          </a:lstStyle>
          <a:p>
            <a:pPr algn="l">
              <a:lnSpc>
                <a:spcPct val="100000"/>
              </a:lnSpc>
              <a:buNone/>
              <a:defRPr sz="1575" b="0" i="0">
                <a:solidFill>
                  <a:srgbClr val="22313D"/>
                </a:solidFill>
                <a:latin typeface="Arial"/>
                <a:ea typeface="Arial"/>
                <a:cs typeface="Arial"/>
              </a:defRPr>
            </a:pPr>
            <a:r>
              <a:rPr sz="1575" b="0" i="0">
                <a:solidFill>
                  <a:srgbClr val="22313D"/>
                </a:solidFill>
                <a:latin typeface="Arial"/>
                <a:ea typeface="Arial"/>
                <a:cs typeface="Arial"/>
              </a:rPr>
              <a:t>5.  </a:t>
            </a:r>
            <a:r>
              <a:rPr sz="1575" b="0" i="0">
                <a:solidFill>
                  <a:srgbClr val="22313D"/>
                </a:solidFill>
                <a:latin typeface="Arial"/>
                <a:ea typeface="Arial"/>
                <a:cs typeface="Arial"/>
                <a:hlinkClick r:id="rId7"/>
              </a:rPr>
              <a:t>Microsoft Support. Relationships between tables in a Data Model.</a:t>
            </a:r>
          </a:p>
        </p:txBody>
      </p:sp>
      <p:sp>
        <p:nvSpPr>
          <p:cNvPr id="9" name="reference-6">
            <a:extLst>
              <a:ext uri="{FF2B5EF4-FFF2-40B4-BE49-F238E27FC236}">
                <a16:creationId xmlns:a16="http://schemas.microsoft.com/office/drawing/2014/main" id="{00E3BA1E-95F0-44A0-8081-48B513824C58}"/>
              </a:ext>
            </a:extLst>
          </p:cNvPr>
          <p:cNvSpPr>
            <a:spLocks noGrp="1"/>
          </p:cNvSpPr>
          <p:nvPr/>
        </p:nvSpPr>
        <p:spPr>
          <a:xfrm>
            <a:off x="838200" y="4953000"/>
            <a:ext cx="10477500" cy="381000"/>
          </a:xfrm>
          <a:prstGeom prst="rect">
            <a:avLst/>
          </a:prstGeom>
          <a:noFill/>
          <a:ln w="0">
            <a:noFill/>
            <a:prstDash val="solid"/>
          </a:ln>
        </p:spPr>
        <p:txBody>
          <a:bodyPr wrap="square" lIns="0" tIns="0" rIns="0" bIns="0" anchor="t">
            <a:normAutofit/>
          </a:bodyPr>
          <a:lstStyle>
            <a:defPPr algn="l">
              <a:defRPr sz="1575" b="0" i="0">
                <a:solidFill>
                  <a:srgbClr val="22313D"/>
                </a:solidFill>
                <a:latin typeface="Arial"/>
                <a:ea typeface="Arial"/>
                <a:cs typeface="Arial"/>
              </a:defRPr>
            </a:defPPr>
          </a:lstStyle>
          <a:p>
            <a:pPr algn="l">
              <a:lnSpc>
                <a:spcPct val="100000"/>
              </a:lnSpc>
              <a:buNone/>
              <a:defRPr sz="1575" b="0" i="0">
                <a:solidFill>
                  <a:srgbClr val="22313D"/>
                </a:solidFill>
                <a:latin typeface="Arial"/>
                <a:ea typeface="Arial"/>
                <a:cs typeface="Arial"/>
              </a:defRPr>
            </a:pPr>
            <a:r>
              <a:rPr sz="1575" b="0" i="0">
                <a:solidFill>
                  <a:srgbClr val="22313D"/>
                </a:solidFill>
                <a:latin typeface="Arial"/>
                <a:ea typeface="Arial"/>
                <a:cs typeface="Arial"/>
              </a:rPr>
              <a:t>6.  </a:t>
            </a:r>
            <a:r>
              <a:rPr sz="1575" b="0" i="0">
                <a:solidFill>
                  <a:srgbClr val="22313D"/>
                </a:solidFill>
                <a:latin typeface="Arial"/>
                <a:ea typeface="Arial"/>
                <a:cs typeface="Arial"/>
                <a:hlinkClick r:id="rId8"/>
              </a:rPr>
              <a:t>Microsoft Support. Excel specifications and limits.</a:t>
            </a:r>
          </a:p>
        </p:txBody>
      </p:sp>
      <p:sp>
        <p:nvSpPr>
          <p:cNvPr id="10" name="references-accessed">
            <a:extLst>
              <a:ext uri="{FF2B5EF4-FFF2-40B4-BE49-F238E27FC236}">
                <a16:creationId xmlns:a16="http://schemas.microsoft.com/office/drawing/2014/main" id="{EBD7A75E-B8D9-4CEE-969C-DF1DCADA886C}"/>
              </a:ext>
            </a:extLst>
          </p:cNvPr>
          <p:cNvSpPr>
            <a:spLocks noGrp="1"/>
          </p:cNvSpPr>
          <p:nvPr/>
        </p:nvSpPr>
        <p:spPr>
          <a:xfrm>
            <a:off x="838200" y="5905500"/>
            <a:ext cx="10477500" cy="266700"/>
          </a:xfrm>
          <a:prstGeom prst="rect">
            <a:avLst/>
          </a:prstGeom>
          <a:noFill/>
          <a:ln w="0">
            <a:noFill/>
            <a:prstDash val="solid"/>
          </a:ln>
        </p:spPr>
        <p:txBody>
          <a:bodyPr wrap="square" lIns="0" tIns="0" rIns="0" bIns="0" anchor="t">
            <a:normAutofit/>
          </a:bodyPr>
          <a:lstStyle>
            <a:defPPr algn="l">
              <a:defRPr sz="1200" b="0" i="1">
                <a:solidFill>
                  <a:srgbClr val="586B78"/>
                </a:solidFill>
                <a:latin typeface="Arial"/>
                <a:ea typeface="Arial"/>
                <a:cs typeface="Arial"/>
              </a:defRPr>
            </a:defPPr>
          </a:lstStyle>
          <a:p>
            <a:pPr algn="l">
              <a:lnSpc>
                <a:spcPct val="100000"/>
              </a:lnSpc>
              <a:buNone/>
              <a:defRPr sz="1200" b="0" i="1">
                <a:solidFill>
                  <a:srgbClr val="586B78"/>
                </a:solidFill>
                <a:latin typeface="Arial"/>
                <a:ea typeface="Arial"/>
                <a:cs typeface="Arial"/>
              </a:defRPr>
            </a:pPr>
            <a:r>
              <a:rPr sz="1200" b="0" i="1">
                <a:solidFill>
                  <a:srgbClr val="586B78"/>
                </a:solidFill>
                <a:latin typeface="Arial"/>
                <a:ea typeface="Arial"/>
                <a:cs typeface="Arial"/>
              </a:rPr>
              <a:t>Accessed 16 October 2026. Project-specific counts and findings come from the workbook checks.</a:t>
            </a:r>
          </a:p>
        </p:txBody>
      </p:sp>
    </p:spTree>
    <p:extLst>
      <p:ext uri="{BB962C8B-B14F-4D97-AF65-F5344CB8AC3E}">
        <p14:creationId xmlns:p14="http://schemas.microsoft.com/office/powerpoint/2010/main" val="17152921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2192</Words>
  <Application>Microsoft Office PowerPoint</Application>
  <DocSecurity>0</DocSecurity>
  <PresentationFormat>Widescreen</PresentationFormat>
  <Paragraphs>169</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Rojan Chandra Poudel</cp:lastModifiedBy>
  <cp:revision>1</cp:revision>
  <dcterms:created xsi:type="dcterms:W3CDTF">2026-10-15T19:41:40Z</dcterms:created>
  <dcterms:modified xsi:type="dcterms:W3CDTF">2026-10-17T16:35:18Z</dcterms:modified>
</cp:coreProperties>
</file>